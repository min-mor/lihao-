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3"/>
    <p:sldMasterId id="2147483654" r:id="rId4"/>
  </p:sldMasterIdLst>
  <p:notesMasterIdLst>
    <p:notesMasterId r:id="rId8"/>
  </p:notesMasterIdLst>
  <p:sldIdLst>
    <p:sldId id="257" r:id="rId5"/>
    <p:sldId id="285" r:id="rId6"/>
    <p:sldId id="271" r:id="rId7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94" r:id="rId20"/>
    <p:sldId id="293" r:id="rId21"/>
    <p:sldId id="286" r:id="rId22"/>
    <p:sldId id="287" r:id="rId23"/>
    <p:sldId id="297" r:id="rId24"/>
    <p:sldId id="288" r:id="rId25"/>
    <p:sldId id="289" r:id="rId26"/>
    <p:sldId id="296" r:id="rId27"/>
    <p:sldId id="290" r:id="rId28"/>
    <p:sldId id="291" r:id="rId29"/>
    <p:sldId id="292" r:id="rId30"/>
  </p:sldIdLst>
  <p:sldSz cx="12192000" cy="6858000"/>
  <p:notesSz cx="6858000" cy="12192000"/>
  <p:custDataLst>
    <p:tags r:id="rId3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4" Type="http://schemas.openxmlformats.org/officeDocument/2006/relationships/tags" Target="tags/tag28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227F98-1F36-45DB-BBBC-EFB5706222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C65BC2A-5288-4D22-AF81-59BC09CA53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227F98-1F36-45DB-BBBC-EFB5706222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C65BC2A-5288-4D22-AF81-59BC09CA53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227F98-1F36-45DB-BBBC-EFB5706222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C65BC2A-5288-4D22-AF81-59BC09CA53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D227F98-1F36-45DB-BBBC-EFB5706222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C65BC2A-5288-4D22-AF81-59BC09CA53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463535" y="752788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967535" y="752788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729135" y="752788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4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4.xml"/><Relationship Id="rId21" Type="http://schemas.openxmlformats.org/officeDocument/2006/relationships/image" Target="../media/image34.png"/><Relationship Id="rId20" Type="http://schemas.openxmlformats.org/officeDocument/2006/relationships/image" Target="../media/image33.png"/><Relationship Id="rId2" Type="http://schemas.openxmlformats.org/officeDocument/2006/relationships/image" Target="../media/image15.png"/><Relationship Id="rId19" Type="http://schemas.openxmlformats.org/officeDocument/2006/relationships/image" Target="../media/image32.png"/><Relationship Id="rId18" Type="http://schemas.openxmlformats.org/officeDocument/2006/relationships/image" Target="../media/image31.png"/><Relationship Id="rId17" Type="http://schemas.openxmlformats.org/officeDocument/2006/relationships/image" Target="../media/image30.png"/><Relationship Id="rId16" Type="http://schemas.openxmlformats.org/officeDocument/2006/relationships/image" Target="../media/image29.png"/><Relationship Id="rId15" Type="http://schemas.openxmlformats.org/officeDocument/2006/relationships/image" Target="../media/image28.png"/><Relationship Id="rId14" Type="http://schemas.openxmlformats.org/officeDocument/2006/relationships/image" Target="../media/image27.png"/><Relationship Id="rId13" Type="http://schemas.openxmlformats.org/officeDocument/2006/relationships/image" Target="../media/image26.png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16.png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9" Type="http://schemas.openxmlformats.org/officeDocument/2006/relationships/image" Target="../media/image50.png"/><Relationship Id="rId18" Type="http://schemas.openxmlformats.org/officeDocument/2006/relationships/image" Target="../media/image49.png"/><Relationship Id="rId17" Type="http://schemas.openxmlformats.org/officeDocument/2006/relationships/image" Target="../media/image48.png"/><Relationship Id="rId16" Type="http://schemas.openxmlformats.org/officeDocument/2006/relationships/image" Target="../media/image47.png"/><Relationship Id="rId15" Type="http://schemas.openxmlformats.org/officeDocument/2006/relationships/image" Target="../media/image46.png"/><Relationship Id="rId14" Type="http://schemas.openxmlformats.org/officeDocument/2006/relationships/image" Target="../media/image45.png"/><Relationship Id="rId13" Type="http://schemas.openxmlformats.org/officeDocument/2006/relationships/image" Target="../media/image44.png"/><Relationship Id="rId12" Type="http://schemas.openxmlformats.org/officeDocument/2006/relationships/image" Target="../media/image43.png"/><Relationship Id="rId11" Type="http://schemas.openxmlformats.org/officeDocument/2006/relationships/image" Target="../media/image42.png"/><Relationship Id="rId10" Type="http://schemas.openxmlformats.org/officeDocument/2006/relationships/image" Target="../media/image41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16.png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9" Type="http://schemas.openxmlformats.org/officeDocument/2006/relationships/image" Target="../media/image66.png"/><Relationship Id="rId18" Type="http://schemas.openxmlformats.org/officeDocument/2006/relationships/image" Target="../media/image65.png"/><Relationship Id="rId17" Type="http://schemas.openxmlformats.org/officeDocument/2006/relationships/image" Target="../media/image64.png"/><Relationship Id="rId16" Type="http://schemas.openxmlformats.org/officeDocument/2006/relationships/image" Target="../media/image63.png"/><Relationship Id="rId15" Type="http://schemas.openxmlformats.org/officeDocument/2006/relationships/image" Target="../media/image62.png"/><Relationship Id="rId14" Type="http://schemas.openxmlformats.org/officeDocument/2006/relationships/image" Target="../media/image61.png"/><Relationship Id="rId13" Type="http://schemas.openxmlformats.org/officeDocument/2006/relationships/image" Target="../media/image60.png"/><Relationship Id="rId12" Type="http://schemas.openxmlformats.org/officeDocument/2006/relationships/image" Target="../media/image59.png"/><Relationship Id="rId11" Type="http://schemas.openxmlformats.org/officeDocument/2006/relationships/image" Target="../media/image58.png"/><Relationship Id="rId10" Type="http://schemas.openxmlformats.org/officeDocument/2006/relationships/image" Target="../media/image57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1" Type="http://schemas.openxmlformats.org/officeDocument/2006/relationships/notesSlide" Target="../notesSlides/notesSlide5.xml"/><Relationship Id="rId30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9" Type="http://schemas.openxmlformats.org/officeDocument/2006/relationships/image" Target="../media/image42.png"/><Relationship Id="rId28" Type="http://schemas.openxmlformats.org/officeDocument/2006/relationships/image" Target="../media/image91.png"/><Relationship Id="rId27" Type="http://schemas.openxmlformats.org/officeDocument/2006/relationships/image" Target="../media/image90.png"/><Relationship Id="rId26" Type="http://schemas.openxmlformats.org/officeDocument/2006/relationships/image" Target="../media/image89.png"/><Relationship Id="rId25" Type="http://schemas.openxmlformats.org/officeDocument/2006/relationships/image" Target="../media/image88.png"/><Relationship Id="rId24" Type="http://schemas.openxmlformats.org/officeDocument/2006/relationships/image" Target="../media/image87.png"/><Relationship Id="rId23" Type="http://schemas.openxmlformats.org/officeDocument/2006/relationships/image" Target="../media/image86.png"/><Relationship Id="rId22" Type="http://schemas.openxmlformats.org/officeDocument/2006/relationships/image" Target="../media/image85.png"/><Relationship Id="rId21" Type="http://schemas.openxmlformats.org/officeDocument/2006/relationships/image" Target="../media/image84.png"/><Relationship Id="rId20" Type="http://schemas.openxmlformats.org/officeDocument/2006/relationships/image" Target="../media/image83.png"/><Relationship Id="rId2" Type="http://schemas.openxmlformats.org/officeDocument/2006/relationships/image" Target="../media/image15.png"/><Relationship Id="rId19" Type="http://schemas.openxmlformats.org/officeDocument/2006/relationships/image" Target="../media/image82.png"/><Relationship Id="rId18" Type="http://schemas.openxmlformats.org/officeDocument/2006/relationships/image" Target="../media/image81.png"/><Relationship Id="rId17" Type="http://schemas.openxmlformats.org/officeDocument/2006/relationships/image" Target="../media/image80.png"/><Relationship Id="rId16" Type="http://schemas.openxmlformats.org/officeDocument/2006/relationships/image" Target="../media/image79.png"/><Relationship Id="rId15" Type="http://schemas.openxmlformats.org/officeDocument/2006/relationships/image" Target="../media/image78.png"/><Relationship Id="rId14" Type="http://schemas.openxmlformats.org/officeDocument/2006/relationships/image" Target="../media/image77.png"/><Relationship Id="rId13" Type="http://schemas.openxmlformats.org/officeDocument/2006/relationships/image" Target="../media/image76.png"/><Relationship Id="rId12" Type="http://schemas.openxmlformats.org/officeDocument/2006/relationships/image" Target="../media/image75.png"/><Relationship Id="rId11" Type="http://schemas.openxmlformats.org/officeDocument/2006/relationships/image" Target="../media/image74.png"/><Relationship Id="rId10" Type="http://schemas.openxmlformats.org/officeDocument/2006/relationships/image" Target="../media/image73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png"/><Relationship Id="rId8" Type="http://schemas.openxmlformats.org/officeDocument/2006/relationships/image" Target="../media/image96.png"/><Relationship Id="rId7" Type="http://schemas.openxmlformats.org/officeDocument/2006/relationships/image" Target="../media/image95.png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16.png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4.xml"/><Relationship Id="rId25" Type="http://schemas.openxmlformats.org/officeDocument/2006/relationships/image" Target="../media/image113.png"/><Relationship Id="rId24" Type="http://schemas.openxmlformats.org/officeDocument/2006/relationships/image" Target="../media/image112.png"/><Relationship Id="rId23" Type="http://schemas.openxmlformats.org/officeDocument/2006/relationships/image" Target="../media/image111.png"/><Relationship Id="rId22" Type="http://schemas.openxmlformats.org/officeDocument/2006/relationships/image" Target="../media/image110.png"/><Relationship Id="rId21" Type="http://schemas.openxmlformats.org/officeDocument/2006/relationships/image" Target="../media/image109.png"/><Relationship Id="rId20" Type="http://schemas.openxmlformats.org/officeDocument/2006/relationships/image" Target="../media/image108.png"/><Relationship Id="rId2" Type="http://schemas.openxmlformats.org/officeDocument/2006/relationships/image" Target="../media/image15.png"/><Relationship Id="rId19" Type="http://schemas.openxmlformats.org/officeDocument/2006/relationships/image" Target="../media/image107.png"/><Relationship Id="rId18" Type="http://schemas.openxmlformats.org/officeDocument/2006/relationships/image" Target="../media/image106.png"/><Relationship Id="rId17" Type="http://schemas.openxmlformats.org/officeDocument/2006/relationships/image" Target="../media/image105.png"/><Relationship Id="rId16" Type="http://schemas.openxmlformats.org/officeDocument/2006/relationships/image" Target="../media/image104.png"/><Relationship Id="rId15" Type="http://schemas.openxmlformats.org/officeDocument/2006/relationships/image" Target="../media/image103.png"/><Relationship Id="rId14" Type="http://schemas.openxmlformats.org/officeDocument/2006/relationships/image" Target="../media/image102.png"/><Relationship Id="rId13" Type="http://schemas.openxmlformats.org/officeDocument/2006/relationships/image" Target="../media/image101.png"/><Relationship Id="rId12" Type="http://schemas.openxmlformats.org/officeDocument/2006/relationships/image" Target="../media/image100.png"/><Relationship Id="rId11" Type="http://schemas.openxmlformats.org/officeDocument/2006/relationships/image" Target="../media/image99.png"/><Relationship Id="rId10" Type="http://schemas.openxmlformats.org/officeDocument/2006/relationships/image" Target="../media/image98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9.png"/><Relationship Id="rId8" Type="http://schemas.openxmlformats.org/officeDocument/2006/relationships/image" Target="../media/image118.png"/><Relationship Id="rId7" Type="http://schemas.openxmlformats.org/officeDocument/2006/relationships/image" Target="../media/image117.png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30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29" Type="http://schemas.openxmlformats.org/officeDocument/2006/relationships/slideLayout" Target="../slideLayouts/slideLayout4.xml"/><Relationship Id="rId28" Type="http://schemas.openxmlformats.org/officeDocument/2006/relationships/image" Target="../media/image138.png"/><Relationship Id="rId27" Type="http://schemas.openxmlformats.org/officeDocument/2006/relationships/image" Target="../media/image137.png"/><Relationship Id="rId26" Type="http://schemas.openxmlformats.org/officeDocument/2006/relationships/image" Target="../media/image136.png"/><Relationship Id="rId25" Type="http://schemas.openxmlformats.org/officeDocument/2006/relationships/image" Target="../media/image135.png"/><Relationship Id="rId24" Type="http://schemas.openxmlformats.org/officeDocument/2006/relationships/image" Target="../media/image134.png"/><Relationship Id="rId23" Type="http://schemas.openxmlformats.org/officeDocument/2006/relationships/image" Target="../media/image133.png"/><Relationship Id="rId22" Type="http://schemas.openxmlformats.org/officeDocument/2006/relationships/image" Target="../media/image132.png"/><Relationship Id="rId21" Type="http://schemas.openxmlformats.org/officeDocument/2006/relationships/image" Target="../media/image131.png"/><Relationship Id="rId20" Type="http://schemas.openxmlformats.org/officeDocument/2006/relationships/image" Target="../media/image130.png"/><Relationship Id="rId2" Type="http://schemas.openxmlformats.org/officeDocument/2006/relationships/image" Target="../media/image15.png"/><Relationship Id="rId19" Type="http://schemas.openxmlformats.org/officeDocument/2006/relationships/image" Target="../media/image129.png"/><Relationship Id="rId18" Type="http://schemas.openxmlformats.org/officeDocument/2006/relationships/image" Target="../media/image128.png"/><Relationship Id="rId17" Type="http://schemas.openxmlformats.org/officeDocument/2006/relationships/image" Target="../media/image127.png"/><Relationship Id="rId16" Type="http://schemas.openxmlformats.org/officeDocument/2006/relationships/image" Target="../media/image126.png"/><Relationship Id="rId15" Type="http://schemas.openxmlformats.org/officeDocument/2006/relationships/image" Target="../media/image125.png"/><Relationship Id="rId14" Type="http://schemas.openxmlformats.org/officeDocument/2006/relationships/image" Target="../media/image124.png"/><Relationship Id="rId13" Type="http://schemas.openxmlformats.org/officeDocument/2006/relationships/image" Target="../media/image123.png"/><Relationship Id="rId12" Type="http://schemas.openxmlformats.org/officeDocument/2006/relationships/image" Target="../media/image122.png"/><Relationship Id="rId11" Type="http://schemas.openxmlformats.org/officeDocument/2006/relationships/image" Target="../media/image121.png"/><Relationship Id="rId10" Type="http://schemas.openxmlformats.org/officeDocument/2006/relationships/image" Target="../media/image120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png"/><Relationship Id="rId8" Type="http://schemas.openxmlformats.org/officeDocument/2006/relationships/image" Target="../media/image143.png"/><Relationship Id="rId7" Type="http://schemas.openxmlformats.org/officeDocument/2006/relationships/image" Target="../media/image142.png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4.xml"/><Relationship Id="rId30" Type="http://schemas.openxmlformats.org/officeDocument/2006/relationships/image" Target="../media/image42.png"/><Relationship Id="rId3" Type="http://schemas.openxmlformats.org/officeDocument/2006/relationships/image" Target="../media/image16.png"/><Relationship Id="rId29" Type="http://schemas.openxmlformats.org/officeDocument/2006/relationships/image" Target="../media/image127.png"/><Relationship Id="rId28" Type="http://schemas.openxmlformats.org/officeDocument/2006/relationships/image" Target="../media/image162.png"/><Relationship Id="rId27" Type="http://schemas.openxmlformats.org/officeDocument/2006/relationships/image" Target="../media/image161.png"/><Relationship Id="rId26" Type="http://schemas.openxmlformats.org/officeDocument/2006/relationships/image" Target="../media/image160.png"/><Relationship Id="rId25" Type="http://schemas.openxmlformats.org/officeDocument/2006/relationships/image" Target="../media/image159.png"/><Relationship Id="rId24" Type="http://schemas.openxmlformats.org/officeDocument/2006/relationships/image" Target="../media/image158.png"/><Relationship Id="rId23" Type="http://schemas.openxmlformats.org/officeDocument/2006/relationships/image" Target="../media/image157.png"/><Relationship Id="rId22" Type="http://schemas.openxmlformats.org/officeDocument/2006/relationships/image" Target="../media/image156.png"/><Relationship Id="rId21" Type="http://schemas.openxmlformats.org/officeDocument/2006/relationships/image" Target="../media/image155.png"/><Relationship Id="rId20" Type="http://schemas.openxmlformats.org/officeDocument/2006/relationships/image" Target="../media/image154.png"/><Relationship Id="rId2" Type="http://schemas.openxmlformats.org/officeDocument/2006/relationships/image" Target="../media/image15.png"/><Relationship Id="rId19" Type="http://schemas.openxmlformats.org/officeDocument/2006/relationships/image" Target="../media/image122.png"/><Relationship Id="rId18" Type="http://schemas.openxmlformats.org/officeDocument/2006/relationships/image" Target="../media/image153.png"/><Relationship Id="rId17" Type="http://schemas.openxmlformats.org/officeDocument/2006/relationships/image" Target="../media/image152.png"/><Relationship Id="rId16" Type="http://schemas.openxmlformats.org/officeDocument/2006/relationships/image" Target="../media/image151.png"/><Relationship Id="rId15" Type="http://schemas.openxmlformats.org/officeDocument/2006/relationships/image" Target="../media/image150.png"/><Relationship Id="rId14" Type="http://schemas.openxmlformats.org/officeDocument/2006/relationships/image" Target="../media/image149.png"/><Relationship Id="rId13" Type="http://schemas.openxmlformats.org/officeDocument/2006/relationships/image" Target="../media/image148.png"/><Relationship Id="rId12" Type="http://schemas.openxmlformats.org/officeDocument/2006/relationships/image" Target="../media/image147.png"/><Relationship Id="rId11" Type="http://schemas.openxmlformats.org/officeDocument/2006/relationships/image" Target="../media/image146.png"/><Relationship Id="rId10" Type="http://schemas.openxmlformats.org/officeDocument/2006/relationships/image" Target="../media/image14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8.png"/><Relationship Id="rId8" Type="http://schemas.openxmlformats.org/officeDocument/2006/relationships/image" Target="../media/image167.png"/><Relationship Id="rId7" Type="http://schemas.openxmlformats.org/officeDocument/2006/relationships/image" Target="../media/image166.png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Relationship Id="rId3" Type="http://schemas.openxmlformats.org/officeDocument/2006/relationships/image" Target="../media/image16.png"/><Relationship Id="rId28" Type="http://schemas.openxmlformats.org/officeDocument/2006/relationships/notesSlide" Target="../notesSlides/notesSlide9.xml"/><Relationship Id="rId27" Type="http://schemas.openxmlformats.org/officeDocument/2006/relationships/slideLayout" Target="../slideLayouts/slideLayout4.xml"/><Relationship Id="rId26" Type="http://schemas.openxmlformats.org/officeDocument/2006/relationships/image" Target="../media/image185.png"/><Relationship Id="rId25" Type="http://schemas.openxmlformats.org/officeDocument/2006/relationships/image" Target="../media/image184.png"/><Relationship Id="rId24" Type="http://schemas.openxmlformats.org/officeDocument/2006/relationships/image" Target="../media/image183.png"/><Relationship Id="rId23" Type="http://schemas.openxmlformats.org/officeDocument/2006/relationships/image" Target="../media/image182.png"/><Relationship Id="rId22" Type="http://schemas.openxmlformats.org/officeDocument/2006/relationships/image" Target="../media/image181.png"/><Relationship Id="rId21" Type="http://schemas.openxmlformats.org/officeDocument/2006/relationships/image" Target="../media/image180.png"/><Relationship Id="rId20" Type="http://schemas.openxmlformats.org/officeDocument/2006/relationships/image" Target="../media/image179.png"/><Relationship Id="rId2" Type="http://schemas.openxmlformats.org/officeDocument/2006/relationships/image" Target="../media/image15.png"/><Relationship Id="rId19" Type="http://schemas.openxmlformats.org/officeDocument/2006/relationships/image" Target="../media/image178.png"/><Relationship Id="rId18" Type="http://schemas.openxmlformats.org/officeDocument/2006/relationships/image" Target="../media/image177.png"/><Relationship Id="rId17" Type="http://schemas.openxmlformats.org/officeDocument/2006/relationships/image" Target="../media/image176.png"/><Relationship Id="rId16" Type="http://schemas.openxmlformats.org/officeDocument/2006/relationships/image" Target="../media/image175.png"/><Relationship Id="rId15" Type="http://schemas.openxmlformats.org/officeDocument/2006/relationships/image" Target="../media/image174.png"/><Relationship Id="rId14" Type="http://schemas.openxmlformats.org/officeDocument/2006/relationships/image" Target="../media/image173.png"/><Relationship Id="rId13" Type="http://schemas.openxmlformats.org/officeDocument/2006/relationships/image" Target="../media/image172.png"/><Relationship Id="rId12" Type="http://schemas.openxmlformats.org/officeDocument/2006/relationships/image" Target="../media/image171.png"/><Relationship Id="rId11" Type="http://schemas.openxmlformats.org/officeDocument/2006/relationships/image" Target="../media/image170.png"/><Relationship Id="rId10" Type="http://schemas.openxmlformats.org/officeDocument/2006/relationships/image" Target="../media/image169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1.png"/><Relationship Id="rId8" Type="http://schemas.openxmlformats.org/officeDocument/2006/relationships/image" Target="../media/image190.png"/><Relationship Id="rId7" Type="http://schemas.openxmlformats.org/officeDocument/2006/relationships/image" Target="../media/image189.png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3" Type="http://schemas.openxmlformats.org/officeDocument/2006/relationships/image" Target="../media/image16.png"/><Relationship Id="rId24" Type="http://schemas.openxmlformats.org/officeDocument/2006/relationships/notesSlide" Target="../notesSlides/notesSlide10.xml"/><Relationship Id="rId23" Type="http://schemas.openxmlformats.org/officeDocument/2006/relationships/slideLayout" Target="../slideLayouts/slideLayout4.xml"/><Relationship Id="rId22" Type="http://schemas.openxmlformats.org/officeDocument/2006/relationships/image" Target="../media/image42.png"/><Relationship Id="rId21" Type="http://schemas.openxmlformats.org/officeDocument/2006/relationships/image" Target="../media/image203.png"/><Relationship Id="rId20" Type="http://schemas.openxmlformats.org/officeDocument/2006/relationships/image" Target="../media/image202.png"/><Relationship Id="rId2" Type="http://schemas.openxmlformats.org/officeDocument/2006/relationships/image" Target="../media/image15.png"/><Relationship Id="rId19" Type="http://schemas.openxmlformats.org/officeDocument/2006/relationships/image" Target="../media/image201.png"/><Relationship Id="rId18" Type="http://schemas.openxmlformats.org/officeDocument/2006/relationships/image" Target="../media/image200.png"/><Relationship Id="rId17" Type="http://schemas.openxmlformats.org/officeDocument/2006/relationships/image" Target="../media/image199.png"/><Relationship Id="rId16" Type="http://schemas.openxmlformats.org/officeDocument/2006/relationships/image" Target="../media/image198.png"/><Relationship Id="rId15" Type="http://schemas.openxmlformats.org/officeDocument/2006/relationships/image" Target="../media/image197.png"/><Relationship Id="rId14" Type="http://schemas.openxmlformats.org/officeDocument/2006/relationships/image" Target="../media/image196.png"/><Relationship Id="rId13" Type="http://schemas.openxmlformats.org/officeDocument/2006/relationships/image" Target="../media/image195.png"/><Relationship Id="rId12" Type="http://schemas.openxmlformats.org/officeDocument/2006/relationships/image" Target="../media/image194.png"/><Relationship Id="rId11" Type="http://schemas.openxmlformats.org/officeDocument/2006/relationships/image" Target="../media/image193.png"/><Relationship Id="rId10" Type="http://schemas.openxmlformats.org/officeDocument/2006/relationships/image" Target="../media/image192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9.png"/><Relationship Id="rId8" Type="http://schemas.openxmlformats.org/officeDocument/2006/relationships/image" Target="../media/image208.png"/><Relationship Id="rId7" Type="http://schemas.openxmlformats.org/officeDocument/2006/relationships/image" Target="../media/image207.png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Relationship Id="rId3" Type="http://schemas.openxmlformats.org/officeDocument/2006/relationships/image" Target="../media/image16.png"/><Relationship Id="rId20" Type="http://schemas.openxmlformats.org/officeDocument/2006/relationships/notesSlide" Target="../notesSlides/notesSlide11.xml"/><Relationship Id="rId2" Type="http://schemas.openxmlformats.org/officeDocument/2006/relationships/image" Target="../media/image15.png"/><Relationship Id="rId19" Type="http://schemas.openxmlformats.org/officeDocument/2006/relationships/slideLayout" Target="../slideLayouts/slideLayout4.xml"/><Relationship Id="rId18" Type="http://schemas.openxmlformats.org/officeDocument/2006/relationships/image" Target="../media/image218.png"/><Relationship Id="rId17" Type="http://schemas.openxmlformats.org/officeDocument/2006/relationships/image" Target="../media/image217.png"/><Relationship Id="rId16" Type="http://schemas.openxmlformats.org/officeDocument/2006/relationships/image" Target="../media/image216.png"/><Relationship Id="rId15" Type="http://schemas.openxmlformats.org/officeDocument/2006/relationships/image" Target="../media/image215.png"/><Relationship Id="rId14" Type="http://schemas.openxmlformats.org/officeDocument/2006/relationships/image" Target="../media/image214.png"/><Relationship Id="rId13" Type="http://schemas.openxmlformats.org/officeDocument/2006/relationships/image" Target="../media/image213.png"/><Relationship Id="rId12" Type="http://schemas.openxmlformats.org/officeDocument/2006/relationships/image" Target="../media/image212.png"/><Relationship Id="rId11" Type="http://schemas.openxmlformats.org/officeDocument/2006/relationships/image" Target="../media/image211.png"/><Relationship Id="rId10" Type="http://schemas.openxmlformats.org/officeDocument/2006/relationships/image" Target="../media/image210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4.png"/><Relationship Id="rId8" Type="http://schemas.openxmlformats.org/officeDocument/2006/relationships/image" Target="../media/image223.png"/><Relationship Id="rId7" Type="http://schemas.openxmlformats.org/officeDocument/2006/relationships/image" Target="../media/image222.png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05.png"/><Relationship Id="rId3" Type="http://schemas.openxmlformats.org/officeDocument/2006/relationships/image" Target="../media/image219.png"/><Relationship Id="rId26" Type="http://schemas.openxmlformats.org/officeDocument/2006/relationships/notesSlide" Target="../notesSlides/notesSlide12.xml"/><Relationship Id="rId25" Type="http://schemas.openxmlformats.org/officeDocument/2006/relationships/slideLayout" Target="../slideLayouts/slideLayout4.xml"/><Relationship Id="rId24" Type="http://schemas.openxmlformats.org/officeDocument/2006/relationships/image" Target="../media/image239.png"/><Relationship Id="rId23" Type="http://schemas.openxmlformats.org/officeDocument/2006/relationships/image" Target="../media/image238.png"/><Relationship Id="rId22" Type="http://schemas.openxmlformats.org/officeDocument/2006/relationships/image" Target="../media/image237.png"/><Relationship Id="rId21" Type="http://schemas.openxmlformats.org/officeDocument/2006/relationships/image" Target="../media/image236.png"/><Relationship Id="rId20" Type="http://schemas.openxmlformats.org/officeDocument/2006/relationships/image" Target="../media/image235.png"/><Relationship Id="rId2" Type="http://schemas.openxmlformats.org/officeDocument/2006/relationships/image" Target="../media/image16.png"/><Relationship Id="rId19" Type="http://schemas.openxmlformats.org/officeDocument/2006/relationships/image" Target="../media/image234.png"/><Relationship Id="rId18" Type="http://schemas.openxmlformats.org/officeDocument/2006/relationships/image" Target="../media/image233.png"/><Relationship Id="rId17" Type="http://schemas.openxmlformats.org/officeDocument/2006/relationships/image" Target="../media/image232.png"/><Relationship Id="rId16" Type="http://schemas.openxmlformats.org/officeDocument/2006/relationships/image" Target="../media/image231.png"/><Relationship Id="rId15" Type="http://schemas.openxmlformats.org/officeDocument/2006/relationships/image" Target="../media/image230.png"/><Relationship Id="rId14" Type="http://schemas.openxmlformats.org/officeDocument/2006/relationships/image" Target="../media/image229.png"/><Relationship Id="rId13" Type="http://schemas.openxmlformats.org/officeDocument/2006/relationships/image" Target="../media/image228.png"/><Relationship Id="rId12" Type="http://schemas.openxmlformats.org/officeDocument/2006/relationships/image" Target="../media/image227.png"/><Relationship Id="rId11" Type="http://schemas.openxmlformats.org/officeDocument/2006/relationships/image" Target="../media/image226.png"/><Relationship Id="rId10" Type="http://schemas.openxmlformats.org/officeDocument/2006/relationships/image" Target="../media/image22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hyperlink" Target="https://github.com/ruanyf/document-style-guide" TargetMode="Externa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5" Type="http://schemas.openxmlformats.org/officeDocument/2006/relationships/slideLayout" Target="../slideLayouts/slideLayout6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245.png"/><Relationship Id="rId3" Type="http://schemas.openxmlformats.org/officeDocument/2006/relationships/image" Target="../media/image244.png"/><Relationship Id="rId2" Type="http://schemas.openxmlformats.org/officeDocument/2006/relationships/image" Target="../media/image243.png"/><Relationship Id="rId1" Type="http://schemas.openxmlformats.org/officeDocument/2006/relationships/image" Target="../media/image242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50.png"/><Relationship Id="rId2" Type="http://schemas.openxmlformats.org/officeDocument/2006/relationships/image" Target="../media/image249.png"/><Relationship Id="rId1" Type="http://schemas.openxmlformats.org/officeDocument/2006/relationships/image" Target="../media/image2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3.png"/><Relationship Id="rId1" Type="http://schemas.openxmlformats.org/officeDocument/2006/relationships/image" Target="../media/image25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55.png"/><Relationship Id="rId3" Type="http://schemas.openxmlformats.org/officeDocument/2006/relationships/image" Target="../media/image254.png"/><Relationship Id="rId2" Type="http://schemas.openxmlformats.org/officeDocument/2006/relationships/image" Target="../media/image253.png"/><Relationship Id="rId1" Type="http://schemas.openxmlformats.org/officeDocument/2006/relationships/image" Target="../media/image252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61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image" Target="../media/image2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3.jpeg"/><Relationship Id="rId1" Type="http://schemas.openxmlformats.org/officeDocument/2006/relationships/image" Target="../media/image26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518147" y="2705725"/>
            <a:ext cx="7268633" cy="1897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我们毕业啦</a:t>
            </a:r>
            <a:endParaRPr lang="en-US" altLang="zh-CN" sz="9600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135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其实是答辩的标题地方</a:t>
            </a:r>
            <a:endParaRPr lang="en-US" altLang="zh-CN" sz="2135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2020711"/>
            <a:ext cx="12192000" cy="3154311"/>
          </a:xfrm>
          <a:prstGeom prst="rect">
            <a:avLst/>
          </a:prstGeom>
          <a:solidFill>
            <a:srgbClr val="0174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文本框 17"/>
          <p:cNvSpPr txBox="1"/>
          <p:nvPr/>
        </p:nvSpPr>
        <p:spPr>
          <a:xfrm>
            <a:off x="689143" y="3429000"/>
            <a:ext cx="10813713" cy="913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335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在线旅游预订平台的开发与推广</a:t>
            </a:r>
            <a:endParaRPr lang="zh-CN" altLang="en-US" sz="5335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3" descr="C:\Users\Administrator\Desktop\c61dd8be4eeaa58d_副本.png"/>
          <p:cNvPicPr>
            <a:picLocks noChangeAspect="1" noChangeArrowheads="1"/>
          </p:cNvPicPr>
          <p:nvPr/>
        </p:nvPicPr>
        <p:blipFill>
          <a:blip r:embed="rId1" cstate="print"/>
          <a:srcRect t="29115" b="25401"/>
          <a:stretch>
            <a:fillRect/>
          </a:stretch>
        </p:blipFill>
        <p:spPr bwMode="auto">
          <a:xfrm>
            <a:off x="3499821" y="316089"/>
            <a:ext cx="5271252" cy="3194756"/>
          </a:xfrm>
          <a:prstGeom prst="rect">
            <a:avLst/>
          </a:prstGeom>
          <a:noFill/>
        </p:spPr>
      </p:pic>
      <p:sp>
        <p:nvSpPr>
          <p:cNvPr id="14" name="矩形 13"/>
          <p:cNvSpPr/>
          <p:nvPr/>
        </p:nvSpPr>
        <p:spPr>
          <a:xfrm>
            <a:off x="5418667" y="5330869"/>
            <a:ext cx="6096000" cy="8669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lnSpc>
                <a:spcPts val="2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学校：阳光学院人工智能学院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lnSpc>
                <a:spcPts val="2000"/>
              </a:lnSpc>
            </a:pP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lnSpc>
                <a:spcPts val="2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答辩团队名称：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壮志凌云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2"/>
          <p:cNvSpPr/>
          <p:nvPr/>
        </p:nvSpPr>
        <p:spPr>
          <a:xfrm>
            <a:off x="635" y="0"/>
            <a:ext cx="12192000" cy="6858000"/>
          </a:xfrm>
          <a:prstGeom prst="rect">
            <a:avLst/>
          </a:prstGeom>
          <a:solidFill>
            <a:schemeClr val="accent5">
              <a:lumMod val="75000"/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2E9EC"/>
              </a:solidFill>
            </a:endParaRPr>
          </a:p>
        </p:txBody>
      </p:sp>
      <p:grpSp>
        <p:nvGrpSpPr>
          <p:cNvPr id="10" name="Group 50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  <a:noFill/>
        </p:grpSpPr>
        <p:sp>
          <p:nvSpPr>
            <p:cNvPr id="11" name="Rectangle 5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2E9EC"/>
                </a:solidFill>
              </a:endParaRPr>
            </a:p>
          </p:txBody>
        </p:sp>
        <p:sp>
          <p:nvSpPr>
            <p:cNvPr id="12" name="Rectangle 5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2E9EC"/>
                </a:solidFill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66823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团队成员：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黄鹏伟，组长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谭敏静，数据库、前端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吴佳程，后端负责疑难杂症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许声鑫，后端负责增删改查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程卓宇，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75000"/>
              <a:alpha val="0"/>
            </a:schemeClr>
          </a:solidFill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628900"/>
            <a:ext cx="5638800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19413"/>
            <a:ext cx="523875" cy="523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263" y="30099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886200"/>
            <a:ext cx="5638800" cy="1104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76712"/>
            <a:ext cx="523875" cy="5238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163" y="4267200"/>
            <a:ext cx="3619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667000"/>
            <a:ext cx="5638800" cy="110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957513"/>
            <a:ext cx="523875" cy="5238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1763" y="3048000"/>
            <a:ext cx="3619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924300"/>
            <a:ext cx="5638800" cy="1028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4176712"/>
            <a:ext cx="523875" cy="5238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4267200"/>
            <a:ext cx="219075" cy="3429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209550"/>
            <a:ext cx="30861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</a:t>
            </a:r>
            <a:endParaRPr lang="en-US" sz="225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1133475" y="2781300"/>
            <a:ext cx="203031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市场规模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1133475" y="3048000"/>
            <a:ext cx="2436376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1.5万亿</a:t>
            </a:r>
            <a:endParaRPr lang="en-US" sz="2250" dirty="0"/>
          </a:p>
        </p:txBody>
      </p:sp>
      <p:sp>
        <p:nvSpPr>
          <p:cNvPr id="23" name="Text 3"/>
          <p:cNvSpPr/>
          <p:nvPr/>
        </p:nvSpPr>
        <p:spPr>
          <a:xfrm>
            <a:off x="1133475" y="3390900"/>
            <a:ext cx="2436376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预计2025年中国在线旅游市场规模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1133475" y="4038600"/>
            <a:ext cx="189696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用户规模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1133475" y="4305300"/>
            <a:ext cx="2276356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5.5亿</a:t>
            </a:r>
            <a:endParaRPr lang="en-US" sz="2250" dirty="0"/>
          </a:p>
        </p:txBody>
      </p:sp>
      <p:sp>
        <p:nvSpPr>
          <p:cNvPr id="26" name="Text 6"/>
          <p:cNvSpPr/>
          <p:nvPr/>
        </p:nvSpPr>
        <p:spPr>
          <a:xfrm>
            <a:off x="1133475" y="4648200"/>
            <a:ext cx="2276356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预计2025年中国在线旅游用户数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7077075" y="2819400"/>
            <a:ext cx="159144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AI推荐准确率</a:t>
            </a:r>
            <a:endParaRPr lang="en-US" sz="1350" dirty="0"/>
          </a:p>
        </p:txBody>
      </p:sp>
      <p:sp>
        <p:nvSpPr>
          <p:cNvPr id="28" name="Text 8"/>
          <p:cNvSpPr/>
          <p:nvPr/>
        </p:nvSpPr>
        <p:spPr>
          <a:xfrm>
            <a:off x="7077075" y="3086100"/>
            <a:ext cx="1591449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CA8A0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75%</a:t>
            </a:r>
            <a:endParaRPr lang="en-US" sz="2250" dirty="0"/>
          </a:p>
        </p:txBody>
      </p:sp>
      <p:sp>
        <p:nvSpPr>
          <p:cNvPr id="29" name="Text 9"/>
          <p:cNvSpPr/>
          <p:nvPr/>
        </p:nvSpPr>
        <p:spPr>
          <a:xfrm>
            <a:off x="7077075" y="3429000"/>
            <a:ext cx="1591449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当前AI推荐技术准确率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7077075" y="4076700"/>
            <a:ext cx="24003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最新政策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7077075" y="4343400"/>
            <a:ext cx="2880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《在线旅游经营服务管理新规》</a:t>
            </a:r>
            <a:endParaRPr lang="en-US" sz="1350" dirty="0"/>
          </a:p>
        </p:txBody>
      </p:sp>
      <p:sp>
        <p:nvSpPr>
          <p:cNvPr id="32" name="Text 12"/>
          <p:cNvSpPr/>
          <p:nvPr/>
        </p:nvSpPr>
        <p:spPr>
          <a:xfrm>
            <a:off x="7077075" y="4610100"/>
            <a:ext cx="28803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2025年实施，规范行业发展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752600"/>
            <a:ext cx="3657600" cy="152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431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0764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1752600"/>
            <a:ext cx="3657600" cy="1524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19431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3438" y="207645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3400" y="1752600"/>
            <a:ext cx="3657600" cy="1524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3900" y="19431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6775" y="207645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505200"/>
            <a:ext cx="3657600" cy="1524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6957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375" y="382905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67200" y="3505200"/>
            <a:ext cx="3657600" cy="1524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36957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29150" y="382905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3400" y="3505200"/>
            <a:ext cx="3657600" cy="1524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43900" y="3695700"/>
            <a:ext cx="571500" cy="571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15350" y="3829050"/>
            <a:ext cx="2286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行业核心挑战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381000" y="1181100"/>
            <a:ext cx="11430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在线旅游行业尽管前景广阔，但仍面临以下关键挑战，需要创新解决方案：</a:t>
            </a:r>
            <a:endParaRPr lang="en-US" sz="1350" dirty="0"/>
          </a:p>
        </p:txBody>
      </p:sp>
      <p:sp>
        <p:nvSpPr>
          <p:cNvPr id="28" name="Text 2"/>
          <p:cNvSpPr/>
          <p:nvPr/>
        </p:nvSpPr>
        <p:spPr>
          <a:xfrm>
            <a:off x="1295400" y="1943100"/>
            <a:ext cx="1600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技术系统稳定性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571500" y="2628900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系统需要达到99.99%的稳定性，任何故障都可能导致用户体验严重下降和品牌信任损失。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5181600" y="194310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数据孤岛现象</a:t>
            </a:r>
            <a:endParaRPr lang="en-US" sz="1500" dirty="0"/>
          </a:p>
        </p:txBody>
      </p:sp>
      <p:sp>
        <p:nvSpPr>
          <p:cNvPr id="31" name="Text 5"/>
          <p:cNvSpPr/>
          <p:nvPr/>
        </p:nvSpPr>
        <p:spPr>
          <a:xfrm>
            <a:off x="4457700" y="2628900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行业存在严重数据孤岛，阻碍了资源的有效整合和用户体验的提升，需要打破数据壁垒。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9067800" y="194310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用户隐私保护</a:t>
            </a:r>
            <a:endParaRPr lang="en-US" sz="1500" dirty="0"/>
          </a:p>
        </p:txBody>
      </p:sp>
      <p:sp>
        <p:nvSpPr>
          <p:cNvPr id="33" name="Text 7"/>
          <p:cNvSpPr/>
          <p:nvPr/>
        </p:nvSpPr>
        <p:spPr>
          <a:xfrm>
            <a:off x="8343900" y="2628900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运营中用户隐私保护面临挑战，需要在提供个性化服务的同时确保数据安全与合规。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1295400" y="3695700"/>
            <a:ext cx="114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供应链管理</a:t>
            </a: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571500" y="4381500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复杂的供应链环节导致管理难度增加，影响服务质量和用户体验，需要优化整合。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5181600" y="3695700"/>
            <a:ext cx="114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产品同质化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4457700" y="4381500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市场产品同质化竞争激烈，缺乏差异化特色，难以满足用户个性化需求和提升竞争力。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9067800" y="3695700"/>
            <a:ext cx="114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用户忠诚度</a:t>
            </a:r>
            <a:endParaRPr lang="en-US" sz="1500" dirty="0"/>
          </a:p>
        </p:txBody>
      </p:sp>
      <p:sp>
        <p:nvSpPr>
          <p:cNvPr id="39" name="Text 13"/>
          <p:cNvSpPr/>
          <p:nvPr/>
        </p:nvSpPr>
        <p:spPr>
          <a:xfrm>
            <a:off x="8343900" y="4381500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用户忠诚度持续下降，获客成本增加，需要创新模式提升用户粘性和长期价值。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11442650" y="6610350"/>
            <a:ext cx="89922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4900"/>
            <a:ext cx="5600700" cy="2133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12573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1813" y="1371600"/>
            <a:ext cx="219075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362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6289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8956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104900"/>
            <a:ext cx="5600700" cy="2133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4900" y="12573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7775" y="137160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23622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26289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2895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467100"/>
            <a:ext cx="5600700" cy="2133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95600" y="36195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00375" y="3733800"/>
            <a:ext cx="3619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47244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49911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52578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3467100"/>
            <a:ext cx="5600700" cy="2133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24900" y="3619500"/>
            <a:ext cx="571500" cy="571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48725" y="3733800"/>
            <a:ext cx="32385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47244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49911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5257800"/>
            <a:ext cx="1524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项目核心价值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533400" y="1943100"/>
            <a:ext cx="5295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提升服务效率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762000" y="2324100"/>
            <a:ext cx="21945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自动化预订管理，降低成本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762000" y="2590800"/>
            <a:ext cx="2011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智能行程规划，优化资源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762000" y="2857500"/>
            <a:ext cx="21945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提高服务响应速度与准确性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6362700" y="1943100"/>
            <a:ext cx="5295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增强用户体验</a:t>
            </a:r>
            <a:endParaRPr lang="en-US" sz="1800" dirty="0"/>
          </a:p>
        </p:txBody>
      </p:sp>
      <p:sp>
        <p:nvSpPr>
          <p:cNvPr id="36" name="Text 6"/>
          <p:cNvSpPr/>
          <p:nvPr/>
        </p:nvSpPr>
        <p:spPr>
          <a:xfrm>
            <a:off x="6591300" y="2324100"/>
            <a:ext cx="21945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个性化推荐，满足多元需求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6591300" y="2590800"/>
            <a:ext cx="2377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多语言客服，提升服务包容性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6591300" y="2857500"/>
            <a:ext cx="2011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增强用户满意度与忠诚度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533400" y="4305300"/>
            <a:ext cx="5295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整合旅游资源</a:t>
            </a:r>
            <a:endParaRPr lang="en-US" sz="1800" dirty="0"/>
          </a:p>
        </p:txBody>
      </p:sp>
      <p:sp>
        <p:nvSpPr>
          <p:cNvPr id="40" name="Text 10"/>
          <p:cNvSpPr/>
          <p:nvPr/>
        </p:nvSpPr>
        <p:spPr>
          <a:xfrm>
            <a:off x="762000" y="4686300"/>
            <a:ext cx="2560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打通酒店、交通、景区等供应链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762000" y="4953000"/>
            <a:ext cx="2377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实现一站式服务，提高便捷性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762000" y="5219700"/>
            <a:ext cx="2560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提高旅游资源利用率与协同效应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6362700" y="4305300"/>
            <a:ext cx="5295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拓展市场份额</a:t>
            </a:r>
            <a:endParaRPr lang="en-US" sz="1800" dirty="0"/>
          </a:p>
        </p:txBody>
      </p:sp>
      <p:sp>
        <p:nvSpPr>
          <p:cNvPr id="44" name="Text 14"/>
          <p:cNvSpPr/>
          <p:nvPr/>
        </p:nvSpPr>
        <p:spPr>
          <a:xfrm>
            <a:off x="6591300" y="46863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数据分析精准定位市场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6591300" y="4953000"/>
            <a:ext cx="16459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制定差异化营销策略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6591300" y="5219700"/>
            <a:ext cx="2743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扩大品牌影响力，提升市场占有率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1714500"/>
            <a:ext cx="2438400" cy="1562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190500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25" y="203835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8600" y="2495550"/>
            <a:ext cx="1143000" cy="28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2495550"/>
            <a:ext cx="1143000" cy="28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5185" y="1566372"/>
            <a:ext cx="559021" cy="55902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5768" y="1600200"/>
            <a:ext cx="559021" cy="55902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581400"/>
            <a:ext cx="3657600" cy="1524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8100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38862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3581400"/>
            <a:ext cx="3657600" cy="1524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38100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0100" y="38862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53400" y="3581400"/>
            <a:ext cx="3657600" cy="1524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0" y="38100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24875" y="3886200"/>
            <a:ext cx="17145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平台总体设计理念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381000" y="1181100"/>
            <a:ext cx="1143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构建</a:t>
            </a:r>
            <a:r>
              <a:rPr lang="en-US" sz="18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多角色、多终端协同</a:t>
            </a:r>
            <a:r>
              <a:rPr lang="en-US" sz="18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的综合性平台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4861560" y="2628900"/>
            <a:ext cx="24688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在线旅游预订平台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4861560" y="2895600"/>
            <a:ext cx="24688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整合分散的旅游信息与服务</a:t>
            </a:r>
            <a:endParaRPr lang="en-US" sz="1050" dirty="0"/>
          </a:p>
        </p:txBody>
      </p:sp>
      <p:sp>
        <p:nvSpPr>
          <p:cNvPr id="26" name="Text 4"/>
          <p:cNvSpPr/>
          <p:nvPr/>
        </p:nvSpPr>
        <p:spPr>
          <a:xfrm>
            <a:off x="1219200" y="390525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统一操作界面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609600" y="4419600"/>
            <a:ext cx="320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为客户提供统一、高效的</a:t>
            </a:r>
            <a:r>
              <a:rPr lang="en-US" sz="1200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操作界面</a:t>
            </a: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，简化信息获取流程，提升用户体验。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5105400" y="3905250"/>
            <a:ext cx="114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一站式服务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4495800" y="4419600"/>
            <a:ext cx="320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整合</a:t>
            </a:r>
            <a:r>
              <a:rPr lang="en-US" sz="1200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酒店、交通、景区</a:t>
            </a: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等供应链，实现一站式服务，提高资源利用率。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8991600" y="390525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解决行业痛点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8382000" y="4419600"/>
            <a:ext cx="320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打破</a:t>
            </a:r>
            <a:r>
              <a:rPr lang="en-US" sz="1200" dirty="0">
                <a:solidFill>
                  <a:srgbClr val="EA58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信息孤岛</a:t>
            </a: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，简化操作流程，提供高效、便捷的旅游服务体验。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4900"/>
            <a:ext cx="3657600" cy="3619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954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1371600"/>
            <a:ext cx="1714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98120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057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6670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2743200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3352800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4290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03860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114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7200" y="1104900"/>
            <a:ext cx="3657600" cy="3619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7700" y="12954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7713" y="1371600"/>
            <a:ext cx="25717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3900" y="1981200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0100" y="20574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2895600"/>
            <a:ext cx="3276600" cy="533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3400" y="1104900"/>
            <a:ext cx="3657600" cy="3619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43900" y="1295400"/>
            <a:ext cx="4572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29625" y="1371600"/>
            <a:ext cx="28575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20100" y="198120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96300" y="20574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34552" y="3042745"/>
            <a:ext cx="3048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10752" y="3128141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36304" y="3431365"/>
            <a:ext cx="3048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22029" y="3507565"/>
            <a:ext cx="13335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67100" y="4991100"/>
            <a:ext cx="15240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系统架构设计</a:t>
            </a:r>
            <a:endParaRPr lang="en-US" sz="2700" dirty="0"/>
          </a:p>
        </p:txBody>
      </p:sp>
      <p:sp>
        <p:nvSpPr>
          <p:cNvPr id="38" name="Text 1"/>
          <p:cNvSpPr/>
          <p:nvPr/>
        </p:nvSpPr>
        <p:spPr>
          <a:xfrm>
            <a:off x="1143000" y="1371600"/>
            <a:ext cx="137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客户端应用</a:t>
            </a:r>
            <a:endParaRPr lang="en-US" sz="1800" dirty="0"/>
          </a:p>
        </p:txBody>
      </p:sp>
      <p:sp>
        <p:nvSpPr>
          <p:cNvPr id="39" name="Text 2"/>
          <p:cNvSpPr/>
          <p:nvPr/>
        </p:nvSpPr>
        <p:spPr>
          <a:xfrm>
            <a:off x="1066800" y="1981200"/>
            <a:ext cx="2533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登录注册子系统</a:t>
            </a:r>
            <a:endParaRPr lang="en-US" sz="1200" dirty="0"/>
          </a:p>
        </p:txBody>
      </p:sp>
      <p:sp>
        <p:nvSpPr>
          <p:cNvPr id="40" name="Text 3"/>
          <p:cNvSpPr/>
          <p:nvPr/>
        </p:nvSpPr>
        <p:spPr>
          <a:xfrm>
            <a:off x="1066800" y="2209800"/>
            <a:ext cx="30403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负责用户账户的创建、身份验证及密码找回</a:t>
            </a:r>
            <a:endParaRPr lang="en-US" sz="1050" dirty="0"/>
          </a:p>
        </p:txBody>
      </p:sp>
      <p:sp>
        <p:nvSpPr>
          <p:cNvPr id="41" name="Text 4"/>
          <p:cNvSpPr/>
          <p:nvPr/>
        </p:nvSpPr>
        <p:spPr>
          <a:xfrm>
            <a:off x="1066800" y="2667000"/>
            <a:ext cx="2533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主页与搜索子系统</a:t>
            </a:r>
            <a:endParaRPr lang="en-US" sz="1200" dirty="0"/>
          </a:p>
        </p:txBody>
      </p:sp>
      <p:sp>
        <p:nvSpPr>
          <p:cNvPr id="42" name="Text 5"/>
          <p:cNvSpPr/>
          <p:nvPr/>
        </p:nvSpPr>
        <p:spPr>
          <a:xfrm>
            <a:off x="1066800" y="2895600"/>
            <a:ext cx="30403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提供个性化内容推荐、全局搜索及预订入口</a:t>
            </a:r>
            <a:endParaRPr lang="en-US" sz="1050" dirty="0"/>
          </a:p>
        </p:txBody>
      </p:sp>
      <p:sp>
        <p:nvSpPr>
          <p:cNvPr id="43" name="Text 6"/>
          <p:cNvSpPr/>
          <p:nvPr/>
        </p:nvSpPr>
        <p:spPr>
          <a:xfrm>
            <a:off x="1066800" y="3352800"/>
            <a:ext cx="19202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心动模式子系统</a:t>
            </a:r>
            <a:endParaRPr lang="en-US" sz="1200" dirty="0"/>
          </a:p>
        </p:txBody>
      </p:sp>
      <p:sp>
        <p:nvSpPr>
          <p:cNvPr id="44" name="Text 7"/>
          <p:cNvSpPr/>
          <p:nvPr/>
        </p:nvSpPr>
        <p:spPr>
          <a:xfrm>
            <a:off x="1066800" y="3581400"/>
            <a:ext cx="19202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个性化推荐与快速预订功能</a:t>
            </a:r>
            <a:endParaRPr lang="en-US" sz="1050" dirty="0"/>
          </a:p>
        </p:txBody>
      </p:sp>
      <p:sp>
        <p:nvSpPr>
          <p:cNvPr id="45" name="Text 8"/>
          <p:cNvSpPr/>
          <p:nvPr/>
        </p:nvSpPr>
        <p:spPr>
          <a:xfrm>
            <a:off x="1066800" y="4038600"/>
            <a:ext cx="2240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个人信息与订单子系统</a:t>
            </a:r>
            <a:endParaRPr lang="en-US" sz="1200" dirty="0"/>
          </a:p>
        </p:txBody>
      </p:sp>
      <p:sp>
        <p:nvSpPr>
          <p:cNvPr id="46" name="Text 9"/>
          <p:cNvSpPr/>
          <p:nvPr/>
        </p:nvSpPr>
        <p:spPr>
          <a:xfrm>
            <a:off x="1066800" y="4267200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管理用户资料、收藏及订单追踪</a:t>
            </a:r>
            <a:endParaRPr lang="en-US" sz="1050" dirty="0"/>
          </a:p>
        </p:txBody>
      </p:sp>
      <p:sp>
        <p:nvSpPr>
          <p:cNvPr id="47" name="Text 10"/>
          <p:cNvSpPr/>
          <p:nvPr/>
        </p:nvSpPr>
        <p:spPr>
          <a:xfrm>
            <a:off x="5029200" y="1371600"/>
            <a:ext cx="137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商家端应用</a:t>
            </a:r>
            <a:endParaRPr lang="en-US" sz="1800" dirty="0"/>
          </a:p>
        </p:txBody>
      </p:sp>
      <p:sp>
        <p:nvSpPr>
          <p:cNvPr id="48" name="Text 11"/>
          <p:cNvSpPr/>
          <p:nvPr/>
        </p:nvSpPr>
        <p:spPr>
          <a:xfrm>
            <a:off x="4953000" y="1981200"/>
            <a:ext cx="2705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商家管理子系统</a:t>
            </a:r>
            <a:endParaRPr lang="en-US" sz="1200" dirty="0"/>
          </a:p>
        </p:txBody>
      </p:sp>
      <p:sp>
        <p:nvSpPr>
          <p:cNvPr id="49" name="Text 12"/>
          <p:cNvSpPr/>
          <p:nvPr/>
        </p:nvSpPr>
        <p:spPr>
          <a:xfrm>
            <a:off x="4953000" y="2209800"/>
            <a:ext cx="27051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处理商家入驻申请、资质审核、商品管理及订单状态</a:t>
            </a:r>
            <a:endParaRPr lang="en-US" sz="1050" dirty="0"/>
          </a:p>
        </p:txBody>
      </p:sp>
      <p:sp>
        <p:nvSpPr>
          <p:cNvPr id="51" name="Text 14"/>
          <p:cNvSpPr/>
          <p:nvPr/>
        </p:nvSpPr>
        <p:spPr>
          <a:xfrm>
            <a:off x="8915400" y="1371600"/>
            <a:ext cx="137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管理端应用</a:t>
            </a:r>
            <a:endParaRPr lang="en-US" sz="1800" dirty="0"/>
          </a:p>
        </p:txBody>
      </p:sp>
      <p:sp>
        <p:nvSpPr>
          <p:cNvPr id="52" name="Text 15"/>
          <p:cNvSpPr/>
          <p:nvPr/>
        </p:nvSpPr>
        <p:spPr>
          <a:xfrm>
            <a:off x="8839200" y="1981200"/>
            <a:ext cx="2705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平台管理子系统</a:t>
            </a:r>
            <a:endParaRPr lang="en-US" sz="1200" dirty="0"/>
          </a:p>
        </p:txBody>
      </p:sp>
      <p:sp>
        <p:nvSpPr>
          <p:cNvPr id="53" name="Text 16"/>
          <p:cNvSpPr/>
          <p:nvPr/>
        </p:nvSpPr>
        <p:spPr>
          <a:xfrm>
            <a:off x="8839200" y="2209800"/>
            <a:ext cx="27051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负责商家入驻审核、订单异常处理及平台反馈管理</a:t>
            </a:r>
            <a:endParaRPr lang="en-US" sz="1050" dirty="0"/>
          </a:p>
        </p:txBody>
      </p:sp>
      <p:sp>
        <p:nvSpPr>
          <p:cNvPr id="54" name="Text 17"/>
          <p:cNvSpPr/>
          <p:nvPr/>
        </p:nvSpPr>
        <p:spPr>
          <a:xfrm>
            <a:off x="8817304" y="3118945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平台数据监控</a:t>
            </a:r>
            <a:endParaRPr lang="en-US" sz="1200" dirty="0"/>
          </a:p>
        </p:txBody>
      </p:sp>
      <p:sp>
        <p:nvSpPr>
          <p:cNvPr id="55" name="Text 18"/>
          <p:cNvSpPr/>
          <p:nvPr/>
        </p:nvSpPr>
        <p:spPr>
          <a:xfrm>
            <a:off x="8839200" y="3469465"/>
            <a:ext cx="12801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公告与反馈管理</a:t>
            </a:r>
            <a:endParaRPr lang="en-US" sz="1200" dirty="0"/>
          </a:p>
        </p:txBody>
      </p:sp>
      <p:sp>
        <p:nvSpPr>
          <p:cNvPr id="56" name="Text 19"/>
          <p:cNvSpPr/>
          <p:nvPr/>
        </p:nvSpPr>
        <p:spPr>
          <a:xfrm>
            <a:off x="381000" y="49530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系统架构围绕三大核心应用展开，细分为</a:t>
            </a:r>
            <a:r>
              <a:rPr lang="zh-CN" alt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六</a:t>
            </a: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大子系统，实现全面功能覆盖</a:t>
            </a:r>
            <a:endParaRPr lang="en-US" sz="1200" dirty="0"/>
          </a:p>
        </p:txBody>
      </p:sp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07729" y="3816175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34400" y="3924300"/>
            <a:ext cx="152400" cy="152400"/>
          </a:xfrm>
          <a:prstGeom prst="rect">
            <a:avLst/>
          </a:prstGeom>
        </p:spPr>
      </p:pic>
      <p:sp>
        <p:nvSpPr>
          <p:cNvPr id="50" name="Text 13"/>
          <p:cNvSpPr/>
          <p:nvPr/>
        </p:nvSpPr>
        <p:spPr>
          <a:xfrm>
            <a:off x="8823960" y="3883231"/>
            <a:ext cx="14630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商家入驻审核流程</a:t>
            </a:r>
            <a:endParaRPr lang="en-US" sz="1200" dirty="0"/>
          </a:p>
        </p:txBody>
      </p:sp>
      <p:pic>
        <p:nvPicPr>
          <p:cNvPr id="6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50664" y="3009900"/>
            <a:ext cx="304800" cy="304800"/>
          </a:xfrm>
          <a:prstGeom prst="rect">
            <a:avLst/>
          </a:prstGeom>
        </p:spPr>
      </p:pic>
      <p:pic>
        <p:nvPicPr>
          <p:cNvPr id="6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26864" y="3095296"/>
            <a:ext cx="152400" cy="152400"/>
          </a:xfrm>
          <a:prstGeom prst="rect">
            <a:avLst/>
          </a:prstGeom>
        </p:spPr>
      </p:pic>
      <p:sp>
        <p:nvSpPr>
          <p:cNvPr id="62" name="Text 17"/>
          <p:cNvSpPr/>
          <p:nvPr/>
        </p:nvSpPr>
        <p:spPr>
          <a:xfrm>
            <a:off x="4953000" y="3054569"/>
            <a:ext cx="1323568" cy="1944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商家订单</a:t>
            </a: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数据监控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81100"/>
            <a:ext cx="114300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095500"/>
            <a:ext cx="5600700" cy="3390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3241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4003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971800"/>
            <a:ext cx="2495550" cy="990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2766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339090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7550" y="2971800"/>
            <a:ext cx="2495550" cy="990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9950" y="3276600"/>
            <a:ext cx="324445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6923" y="3390900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095500"/>
            <a:ext cx="5600700" cy="3390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3241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4625" y="24003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971800"/>
            <a:ext cx="2514600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3162300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9875" y="3238500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7800" y="2971800"/>
            <a:ext cx="2514600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2100" y="31623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67825" y="323850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771900"/>
            <a:ext cx="2514600" cy="685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3962400"/>
            <a:ext cx="3048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29400" y="40386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7800" y="3771900"/>
            <a:ext cx="2514600" cy="685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82100" y="3962400"/>
            <a:ext cx="3048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0" y="403860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572000"/>
            <a:ext cx="2514600" cy="685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3200" y="4762500"/>
            <a:ext cx="304800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48450" y="4838700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7800" y="4572000"/>
            <a:ext cx="2514600" cy="685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2100" y="4762500"/>
            <a:ext cx="304800" cy="304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67825" y="4838700"/>
            <a:ext cx="13335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技术选型方案</a:t>
            </a:r>
            <a:endParaRPr lang="en-US" sz="2700" dirty="0"/>
          </a:p>
        </p:txBody>
      </p:sp>
      <p:sp>
        <p:nvSpPr>
          <p:cNvPr id="38" name="Text 1"/>
          <p:cNvSpPr/>
          <p:nvPr/>
        </p:nvSpPr>
        <p:spPr>
          <a:xfrm>
            <a:off x="-579120" y="1333500"/>
            <a:ext cx="133502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本项目的技术选型旨在确保平台的稳定性、可扩展性和高效性，涵盖了硬件与软件环境的各个层面</a:t>
            </a:r>
            <a:endParaRPr lang="en-US" sz="1200" dirty="0"/>
          </a:p>
        </p:txBody>
      </p:sp>
      <p:sp>
        <p:nvSpPr>
          <p:cNvPr id="39" name="Text 2"/>
          <p:cNvSpPr/>
          <p:nvPr/>
        </p:nvSpPr>
        <p:spPr>
          <a:xfrm>
            <a:off x="1219200" y="2400300"/>
            <a:ext cx="1097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硬件环境</a:t>
            </a:r>
            <a:endParaRPr lang="en-US" sz="1800" dirty="0"/>
          </a:p>
        </p:txBody>
      </p:sp>
      <p:sp>
        <p:nvSpPr>
          <p:cNvPr id="40" name="Text 3"/>
          <p:cNvSpPr/>
          <p:nvPr/>
        </p:nvSpPr>
        <p:spPr>
          <a:xfrm>
            <a:off x="1257300" y="3238500"/>
            <a:ext cx="92475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服务器</a:t>
            </a:r>
            <a:endParaRPr lang="en-US" sz="1200" dirty="0"/>
          </a:p>
        </p:txBody>
      </p:sp>
      <p:sp>
        <p:nvSpPr>
          <p:cNvPr id="41" name="Text 4"/>
          <p:cNvSpPr/>
          <p:nvPr/>
        </p:nvSpPr>
        <p:spPr>
          <a:xfrm>
            <a:off x="1257300" y="3467100"/>
            <a:ext cx="92475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腾讯云ECS</a:t>
            </a:r>
            <a:endParaRPr lang="en-US" sz="1200" dirty="0"/>
          </a:p>
        </p:txBody>
      </p:sp>
      <p:sp>
        <p:nvSpPr>
          <p:cNvPr id="42" name="Text 5"/>
          <p:cNvSpPr/>
          <p:nvPr/>
        </p:nvSpPr>
        <p:spPr>
          <a:xfrm>
            <a:off x="3848695" y="3124200"/>
            <a:ext cx="175200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客户端</a:t>
            </a:r>
            <a:endParaRPr lang="en-US" sz="1200" dirty="0"/>
          </a:p>
        </p:txBody>
      </p:sp>
      <p:sp>
        <p:nvSpPr>
          <p:cNvPr id="43" name="Text 6"/>
          <p:cNvSpPr/>
          <p:nvPr/>
        </p:nvSpPr>
        <p:spPr>
          <a:xfrm>
            <a:off x="3848695" y="3352800"/>
            <a:ext cx="175200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浏览器、iOS和Android</a:t>
            </a:r>
            <a:endParaRPr lang="en-US" sz="1200" dirty="0"/>
          </a:p>
        </p:txBody>
      </p:sp>
      <p:sp>
        <p:nvSpPr>
          <p:cNvPr id="44" name="Text 7"/>
          <p:cNvSpPr/>
          <p:nvPr/>
        </p:nvSpPr>
        <p:spPr>
          <a:xfrm>
            <a:off x="7048500" y="2400300"/>
            <a:ext cx="1097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软件环境</a:t>
            </a:r>
            <a:endParaRPr lang="en-US" sz="1800" dirty="0"/>
          </a:p>
        </p:txBody>
      </p:sp>
      <p:sp>
        <p:nvSpPr>
          <p:cNvPr id="45" name="Text 8"/>
          <p:cNvSpPr/>
          <p:nvPr/>
        </p:nvSpPr>
        <p:spPr>
          <a:xfrm>
            <a:off x="6934200" y="3086100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操作系统</a:t>
            </a:r>
            <a:endParaRPr lang="en-US" sz="1200" dirty="0"/>
          </a:p>
        </p:txBody>
      </p:sp>
      <p:sp>
        <p:nvSpPr>
          <p:cNvPr id="46" name="Text 9"/>
          <p:cNvSpPr/>
          <p:nvPr/>
        </p:nvSpPr>
        <p:spPr>
          <a:xfrm>
            <a:off x="6934200" y="3314700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Linux</a:t>
            </a:r>
            <a:endParaRPr lang="en-US" sz="1200" dirty="0"/>
          </a:p>
        </p:txBody>
      </p:sp>
      <p:sp>
        <p:nvSpPr>
          <p:cNvPr id="47" name="Text 10"/>
          <p:cNvSpPr/>
          <p:nvPr/>
        </p:nvSpPr>
        <p:spPr>
          <a:xfrm>
            <a:off x="9563100" y="3086100"/>
            <a:ext cx="60971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</a:t>
            </a:r>
            <a:endParaRPr lang="en-US" sz="1200" dirty="0"/>
          </a:p>
        </p:txBody>
      </p:sp>
      <p:sp>
        <p:nvSpPr>
          <p:cNvPr id="48" name="Text 11"/>
          <p:cNvSpPr/>
          <p:nvPr/>
        </p:nvSpPr>
        <p:spPr>
          <a:xfrm>
            <a:off x="9563100" y="3314700"/>
            <a:ext cx="60971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</a:t>
            </a:r>
            <a:endParaRPr lang="en-US" sz="1200" dirty="0"/>
          </a:p>
        </p:txBody>
      </p:sp>
      <p:sp>
        <p:nvSpPr>
          <p:cNvPr id="49" name="Text 12"/>
          <p:cNvSpPr/>
          <p:nvPr/>
        </p:nvSpPr>
        <p:spPr>
          <a:xfrm>
            <a:off x="6934200" y="3886200"/>
            <a:ext cx="93136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Web服务器</a:t>
            </a:r>
            <a:endParaRPr lang="en-US" sz="1200" dirty="0"/>
          </a:p>
        </p:txBody>
      </p:sp>
      <p:sp>
        <p:nvSpPr>
          <p:cNvPr id="50" name="Text 13"/>
          <p:cNvSpPr/>
          <p:nvPr/>
        </p:nvSpPr>
        <p:spPr>
          <a:xfrm>
            <a:off x="6934200" y="4114800"/>
            <a:ext cx="93136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Nginx</a:t>
            </a:r>
            <a:endParaRPr lang="en-US" sz="1200" dirty="0"/>
          </a:p>
        </p:txBody>
      </p:sp>
      <p:sp>
        <p:nvSpPr>
          <p:cNvPr id="51" name="Text 14"/>
          <p:cNvSpPr/>
          <p:nvPr/>
        </p:nvSpPr>
        <p:spPr>
          <a:xfrm>
            <a:off x="9563100" y="3886200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后端运行环境</a:t>
            </a:r>
            <a:endParaRPr lang="en-US" sz="1200" dirty="0"/>
          </a:p>
        </p:txBody>
      </p:sp>
      <p:sp>
        <p:nvSpPr>
          <p:cNvPr id="52" name="Text 15"/>
          <p:cNvSpPr/>
          <p:nvPr/>
        </p:nvSpPr>
        <p:spPr>
          <a:xfrm>
            <a:off x="9563100" y="4114800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53" name="Text 16"/>
          <p:cNvSpPr/>
          <p:nvPr/>
        </p:nvSpPr>
        <p:spPr>
          <a:xfrm>
            <a:off x="6934200" y="4686300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后端编程语言</a:t>
            </a:r>
            <a:endParaRPr lang="en-US" sz="1200" dirty="0"/>
          </a:p>
        </p:txBody>
      </p:sp>
      <p:sp>
        <p:nvSpPr>
          <p:cNvPr id="54" name="Text 17"/>
          <p:cNvSpPr/>
          <p:nvPr/>
        </p:nvSpPr>
        <p:spPr>
          <a:xfrm>
            <a:off x="6934200" y="4914900"/>
            <a:ext cx="914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</a:t>
            </a:r>
            <a:endParaRPr lang="en-US" sz="1200" dirty="0"/>
          </a:p>
        </p:txBody>
      </p:sp>
      <p:sp>
        <p:nvSpPr>
          <p:cNvPr id="55" name="Text 18"/>
          <p:cNvSpPr/>
          <p:nvPr/>
        </p:nvSpPr>
        <p:spPr>
          <a:xfrm>
            <a:off x="9563100" y="4686300"/>
            <a:ext cx="154019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前端编程语言</a:t>
            </a:r>
            <a:endParaRPr lang="en-US" sz="1200" dirty="0"/>
          </a:p>
        </p:txBody>
      </p:sp>
      <p:sp>
        <p:nvSpPr>
          <p:cNvPr id="56" name="Text 19"/>
          <p:cNvSpPr/>
          <p:nvPr/>
        </p:nvSpPr>
        <p:spPr>
          <a:xfrm>
            <a:off x="9563100" y="4914900"/>
            <a:ext cx="154019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Vue 3 + TypeScript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4900"/>
            <a:ext cx="4434780" cy="533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590" y="158115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5515" y="17145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923187"/>
            <a:ext cx="1857201" cy="219272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3990" y="3028950"/>
            <a:ext cx="1828800" cy="2133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6465" y="3676650"/>
            <a:ext cx="3238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9740" y="5437787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4380" y="1104900"/>
            <a:ext cx="6766620" cy="1752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2980" y="1371600"/>
            <a:ext cx="238125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72980" y="17526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2980" y="20955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72980" y="24384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4380" y="3086100"/>
            <a:ext cx="6766620" cy="2438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72980" y="3352800"/>
            <a:ext cx="219075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72980" y="3695700"/>
            <a:ext cx="3078510" cy="723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5380" y="38481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39680" y="39624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03890" y="3695700"/>
            <a:ext cx="3078510" cy="723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56290" y="38481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70590" y="39624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72980" y="4572000"/>
            <a:ext cx="3078510" cy="723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25380" y="4724400"/>
            <a:ext cx="381000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39680" y="48387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03890" y="4572000"/>
            <a:ext cx="3078510" cy="7239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656290" y="4724400"/>
            <a:ext cx="381000" cy="3810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创新"心动模式</a:t>
            </a: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1775430" y="2305050"/>
            <a:ext cx="16459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智能推荐引擎</a:t>
            </a:r>
            <a:endParaRPr lang="en-US" sz="1500" dirty="0"/>
          </a:p>
        </p:txBody>
      </p:sp>
      <p:sp>
        <p:nvSpPr>
          <p:cNvPr id="36" name="Text 2"/>
          <p:cNvSpPr/>
          <p:nvPr/>
        </p:nvSpPr>
        <p:spPr>
          <a:xfrm>
            <a:off x="1775430" y="2571750"/>
            <a:ext cx="16459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分析用户行为与偏好</a:t>
            </a:r>
            <a:endParaRPr lang="en-US" sz="1200" dirty="0"/>
          </a:p>
        </p:txBody>
      </p:sp>
      <p:sp>
        <p:nvSpPr>
          <p:cNvPr id="37" name="Text 3"/>
          <p:cNvSpPr/>
          <p:nvPr/>
        </p:nvSpPr>
        <p:spPr>
          <a:xfrm>
            <a:off x="1798290" y="4095750"/>
            <a:ext cx="1600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个性化旅行卡片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1798290" y="4324350"/>
            <a:ext cx="1600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根据用户偏好智能推荐</a:t>
            </a:r>
            <a:endParaRPr lang="en-US" sz="1050" dirty="0"/>
          </a:p>
        </p:txBody>
      </p:sp>
      <p:sp>
        <p:nvSpPr>
          <p:cNvPr id="39" name="Text 5"/>
          <p:cNvSpPr/>
          <p:nvPr/>
        </p:nvSpPr>
        <p:spPr>
          <a:xfrm>
            <a:off x="1546830" y="5391150"/>
            <a:ext cx="21031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用户滑动操作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5625405" y="1333500"/>
            <a:ext cx="63094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智能算法核心</a:t>
            </a:r>
            <a:endParaRPr lang="en-US" sz="1500" dirty="0"/>
          </a:p>
        </p:txBody>
      </p:sp>
      <p:sp>
        <p:nvSpPr>
          <p:cNvPr id="43" name="Text 9"/>
          <p:cNvSpPr/>
          <p:nvPr/>
        </p:nvSpPr>
        <p:spPr>
          <a:xfrm>
            <a:off x="5539680" y="1714500"/>
            <a:ext cx="2377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分析用户历史行为与偏好数据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5539680" y="2057400"/>
            <a:ext cx="21945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实时数据动态调整推荐策略</a:t>
            </a:r>
            <a:endParaRPr lang="en-US" sz="1200" dirty="0"/>
          </a:p>
        </p:txBody>
      </p:sp>
      <p:sp>
        <p:nvSpPr>
          <p:cNvPr id="45" name="Text 11"/>
          <p:cNvSpPr/>
          <p:nvPr/>
        </p:nvSpPr>
        <p:spPr>
          <a:xfrm>
            <a:off x="5577780" y="2400300"/>
            <a:ext cx="2560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精准推送符合用户兴趣的目的地</a:t>
            </a:r>
            <a:endParaRPr lang="en-US" sz="1200" dirty="0"/>
          </a:p>
        </p:txBody>
      </p:sp>
      <p:sp>
        <p:nvSpPr>
          <p:cNvPr id="46" name="Text 12"/>
          <p:cNvSpPr/>
          <p:nvPr/>
        </p:nvSpPr>
        <p:spPr>
          <a:xfrm>
            <a:off x="5606355" y="3314700"/>
            <a:ext cx="63094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用户体验提升</a:t>
            </a:r>
            <a:endParaRPr lang="en-US" sz="1500" dirty="0"/>
          </a:p>
        </p:txBody>
      </p:sp>
      <p:sp>
        <p:nvSpPr>
          <p:cNvPr id="47" name="Text 13"/>
          <p:cNvSpPr/>
          <p:nvPr/>
        </p:nvSpPr>
        <p:spPr>
          <a:xfrm>
            <a:off x="5920680" y="3848100"/>
            <a:ext cx="14401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高效发现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5920680" y="4076700"/>
            <a:ext cx="14401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快速浏览个性化推荐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9151590" y="3848100"/>
            <a:ext cx="12801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简化决策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9151590" y="4076700"/>
            <a:ext cx="12801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直观滑动完成选择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5920680" y="4724400"/>
            <a:ext cx="9601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心动体验</a:t>
            </a:r>
            <a:endParaRPr lang="en-US" sz="1200" dirty="0"/>
          </a:p>
        </p:txBody>
      </p:sp>
      <p:sp>
        <p:nvSpPr>
          <p:cNvPr id="52" name="Text 18"/>
          <p:cNvSpPr/>
          <p:nvPr/>
        </p:nvSpPr>
        <p:spPr>
          <a:xfrm>
            <a:off x="5920680" y="4953000"/>
            <a:ext cx="96012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直观反馈机制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9151590" y="4724400"/>
            <a:ext cx="14401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一键预订</a:t>
            </a:r>
            <a:endParaRPr lang="en-US" sz="1200" dirty="0"/>
          </a:p>
        </p:txBody>
      </p:sp>
      <p:sp>
        <p:nvSpPr>
          <p:cNvPr id="54" name="Text 20"/>
          <p:cNvSpPr/>
          <p:nvPr/>
        </p:nvSpPr>
        <p:spPr>
          <a:xfrm>
            <a:off x="9151590" y="4953000"/>
            <a:ext cx="14401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心动即刻进入详情页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00200"/>
            <a:ext cx="5562600" cy="4800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866900"/>
            <a:ext cx="219075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38125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2247900"/>
            <a:ext cx="4495800" cy="723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2476500"/>
            <a:ext cx="21907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2575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9200" y="3124200"/>
            <a:ext cx="4495800" cy="723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1600" y="33528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13385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9200" y="4000500"/>
            <a:ext cx="4495800" cy="723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1600" y="4229100"/>
            <a:ext cx="17145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01015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9200" y="4876800"/>
            <a:ext cx="449580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71600" y="5105400"/>
            <a:ext cx="21907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1600200"/>
            <a:ext cx="5562600" cy="3009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1866900"/>
            <a:ext cx="238125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2247900"/>
            <a:ext cx="2476500" cy="990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29400" y="24384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05900" y="2247900"/>
            <a:ext cx="2476500" cy="990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58300" y="24384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3390900"/>
            <a:ext cx="2476500" cy="990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29400" y="3581400"/>
            <a:ext cx="1714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05900" y="3390900"/>
            <a:ext cx="2476500" cy="990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58300" y="35814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48400" y="4724400"/>
            <a:ext cx="5562600" cy="1676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77000" y="4991100"/>
            <a:ext cx="219075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537210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56769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5981700"/>
            <a:ext cx="152400" cy="1524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一体化商家管理功能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381000" y="1104900"/>
            <a:ext cx="11430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为入驻平台的商家提供一站式管理解决方案，确保高效业务运营</a:t>
            </a:r>
            <a:endParaRPr lang="en-US" sz="1500" dirty="0"/>
          </a:p>
        </p:txBody>
      </p:sp>
      <p:sp>
        <p:nvSpPr>
          <p:cNvPr id="37" name="Text 2"/>
          <p:cNvSpPr/>
          <p:nvPr/>
        </p:nvSpPr>
        <p:spPr>
          <a:xfrm>
            <a:off x="942975" y="1828800"/>
            <a:ext cx="5105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商家运营流程</a:t>
            </a:r>
            <a:endParaRPr lang="en-US" sz="1500" dirty="0"/>
          </a:p>
        </p:txBody>
      </p:sp>
      <p:sp>
        <p:nvSpPr>
          <p:cNvPr id="38" name="Text 3"/>
          <p:cNvSpPr/>
          <p:nvPr/>
        </p:nvSpPr>
        <p:spPr>
          <a:xfrm>
            <a:off x="785217" y="2381250"/>
            <a:ext cx="45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39" name="Text 4"/>
          <p:cNvSpPr/>
          <p:nvPr/>
        </p:nvSpPr>
        <p:spPr>
          <a:xfrm>
            <a:off x="1704975" y="2400300"/>
            <a:ext cx="17335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入驻申请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1704975" y="2628900"/>
            <a:ext cx="20802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提交入驻申请并上传资质证明</a:t>
            </a:r>
            <a:endParaRPr lang="en-US" sz="1050" dirty="0"/>
          </a:p>
        </p:txBody>
      </p:sp>
      <p:sp>
        <p:nvSpPr>
          <p:cNvPr id="41" name="Text 6"/>
          <p:cNvSpPr/>
          <p:nvPr/>
        </p:nvSpPr>
        <p:spPr>
          <a:xfrm>
            <a:off x="785217" y="3257550"/>
            <a:ext cx="45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42" name="Text 7"/>
          <p:cNvSpPr/>
          <p:nvPr/>
        </p:nvSpPr>
        <p:spPr>
          <a:xfrm>
            <a:off x="1676400" y="3276600"/>
            <a:ext cx="2000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资质审核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1676400" y="3505200"/>
            <a:ext cx="2400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平台审核商家资质真实性与合法性</a:t>
            </a:r>
            <a:endParaRPr lang="en-US" sz="1050" dirty="0"/>
          </a:p>
        </p:txBody>
      </p:sp>
      <p:sp>
        <p:nvSpPr>
          <p:cNvPr id="44" name="Text 9"/>
          <p:cNvSpPr/>
          <p:nvPr/>
        </p:nvSpPr>
        <p:spPr>
          <a:xfrm>
            <a:off x="785217" y="4133850"/>
            <a:ext cx="45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33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45" name="Text 10"/>
          <p:cNvSpPr/>
          <p:nvPr/>
        </p:nvSpPr>
        <p:spPr>
          <a:xfrm>
            <a:off x="1657350" y="4152900"/>
            <a:ext cx="1866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商品管理</a:t>
            </a:r>
            <a:endParaRPr lang="en-US" sz="1200" dirty="0"/>
          </a:p>
        </p:txBody>
      </p:sp>
      <p:sp>
        <p:nvSpPr>
          <p:cNvPr id="46" name="Text 11"/>
          <p:cNvSpPr/>
          <p:nvPr/>
        </p:nvSpPr>
        <p:spPr>
          <a:xfrm>
            <a:off x="1657350" y="4381500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录入、编辑和管理旅游产品信息</a:t>
            </a:r>
            <a:endParaRPr lang="en-US" sz="1050" dirty="0"/>
          </a:p>
        </p:txBody>
      </p:sp>
      <p:sp>
        <p:nvSpPr>
          <p:cNvPr id="47" name="Text 12"/>
          <p:cNvSpPr/>
          <p:nvPr/>
        </p:nvSpPr>
        <p:spPr>
          <a:xfrm>
            <a:off x="785217" y="5010150"/>
            <a:ext cx="457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48" name="Text 13"/>
          <p:cNvSpPr/>
          <p:nvPr/>
        </p:nvSpPr>
        <p:spPr>
          <a:xfrm>
            <a:off x="1704975" y="5029200"/>
            <a:ext cx="2000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订单处理</a:t>
            </a:r>
            <a:endParaRPr lang="en-US" sz="1200" dirty="0"/>
          </a:p>
        </p:txBody>
      </p:sp>
      <p:sp>
        <p:nvSpPr>
          <p:cNvPr id="49" name="Text 14"/>
          <p:cNvSpPr/>
          <p:nvPr/>
        </p:nvSpPr>
        <p:spPr>
          <a:xfrm>
            <a:off x="1704975" y="5257800"/>
            <a:ext cx="2400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管理订单状态与处理各类订单操作</a:t>
            </a:r>
            <a:endParaRPr lang="en-US" sz="1050" dirty="0"/>
          </a:p>
        </p:txBody>
      </p:sp>
      <p:sp>
        <p:nvSpPr>
          <p:cNvPr id="50" name="Text 15"/>
          <p:cNvSpPr/>
          <p:nvPr/>
        </p:nvSpPr>
        <p:spPr>
          <a:xfrm>
            <a:off x="6829425" y="1828800"/>
            <a:ext cx="5105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核心功能模块</a:t>
            </a:r>
            <a:endParaRPr lang="en-US" sz="1500" dirty="0"/>
          </a:p>
        </p:txBody>
      </p:sp>
      <p:sp>
        <p:nvSpPr>
          <p:cNvPr id="51" name="Text 16"/>
          <p:cNvSpPr/>
          <p:nvPr/>
        </p:nvSpPr>
        <p:spPr>
          <a:xfrm>
            <a:off x="6877050" y="2400300"/>
            <a:ext cx="16459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入驻申请与资质审核</a:t>
            </a:r>
            <a:endParaRPr lang="en-US" sz="1200" dirty="0"/>
          </a:p>
        </p:txBody>
      </p:sp>
      <p:sp>
        <p:nvSpPr>
          <p:cNvPr id="52" name="Text 17"/>
          <p:cNvSpPr/>
          <p:nvPr/>
        </p:nvSpPr>
        <p:spPr>
          <a:xfrm>
            <a:off x="6629400" y="2705100"/>
            <a:ext cx="2171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商家提交资质，平台审核入驻申请和商品发布审核</a:t>
            </a:r>
            <a:endParaRPr lang="en-US" sz="1050" dirty="0"/>
          </a:p>
        </p:txBody>
      </p:sp>
      <p:sp>
        <p:nvSpPr>
          <p:cNvPr id="53" name="Text 18"/>
          <p:cNvSpPr/>
          <p:nvPr/>
        </p:nvSpPr>
        <p:spPr>
          <a:xfrm>
            <a:off x="9486900" y="2400300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商品信息维护</a:t>
            </a:r>
            <a:endParaRPr lang="en-US" sz="1200" dirty="0"/>
          </a:p>
        </p:txBody>
      </p:sp>
      <p:sp>
        <p:nvSpPr>
          <p:cNvPr id="54" name="Text 19"/>
          <p:cNvSpPr/>
          <p:nvPr/>
        </p:nvSpPr>
        <p:spPr>
          <a:xfrm>
            <a:off x="9258300" y="2705100"/>
            <a:ext cx="2171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管理旅游产品信息，实时更新库存和价格</a:t>
            </a:r>
            <a:endParaRPr lang="en-US" sz="1050" dirty="0"/>
          </a:p>
        </p:txBody>
      </p:sp>
      <p:sp>
        <p:nvSpPr>
          <p:cNvPr id="55" name="Text 20"/>
          <p:cNvSpPr/>
          <p:nvPr/>
        </p:nvSpPr>
        <p:spPr>
          <a:xfrm>
            <a:off x="6877050" y="3543300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订单状态管理</a:t>
            </a:r>
            <a:endParaRPr lang="en-US" sz="1200" dirty="0"/>
          </a:p>
        </p:txBody>
      </p:sp>
      <p:sp>
        <p:nvSpPr>
          <p:cNvPr id="56" name="Text 21"/>
          <p:cNvSpPr/>
          <p:nvPr/>
        </p:nvSpPr>
        <p:spPr>
          <a:xfrm>
            <a:off x="6629400" y="3848100"/>
            <a:ext cx="2171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实时查看并管理订单，包括确认、修改、取消等</a:t>
            </a:r>
            <a:endParaRPr lang="en-US" sz="1050" dirty="0"/>
          </a:p>
        </p:txBody>
      </p:sp>
      <p:sp>
        <p:nvSpPr>
          <p:cNvPr id="57" name="Text 22"/>
          <p:cNvSpPr/>
          <p:nvPr/>
        </p:nvSpPr>
        <p:spPr>
          <a:xfrm>
            <a:off x="9486900" y="3543300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审核结果查询</a:t>
            </a:r>
            <a:endParaRPr lang="en-US" sz="1200" dirty="0"/>
          </a:p>
        </p:txBody>
      </p:sp>
      <p:sp>
        <p:nvSpPr>
          <p:cNvPr id="58" name="Text 23"/>
          <p:cNvSpPr/>
          <p:nvPr/>
        </p:nvSpPr>
        <p:spPr>
          <a:xfrm>
            <a:off x="9258300" y="3848100"/>
            <a:ext cx="2171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随时查询入驻申请和商品发布的审核进度与结果</a:t>
            </a:r>
            <a:endParaRPr lang="en-US" sz="1050" dirty="0"/>
          </a:p>
        </p:txBody>
      </p:sp>
      <p:sp>
        <p:nvSpPr>
          <p:cNvPr id="59" name="Text 24"/>
          <p:cNvSpPr/>
          <p:nvPr/>
        </p:nvSpPr>
        <p:spPr>
          <a:xfrm>
            <a:off x="6810375" y="4953000"/>
            <a:ext cx="5105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平台价值</a:t>
            </a:r>
            <a:endParaRPr lang="en-US" sz="1500" dirty="0"/>
          </a:p>
        </p:txBody>
      </p:sp>
      <p:sp>
        <p:nvSpPr>
          <p:cNvPr id="60" name="Text 25"/>
          <p:cNvSpPr/>
          <p:nvPr/>
        </p:nvSpPr>
        <p:spPr>
          <a:xfrm>
            <a:off x="6705600" y="5334000"/>
            <a:ext cx="2743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简化商家入驻流程，提高审核效率</a:t>
            </a:r>
            <a:endParaRPr lang="en-US" sz="1200" dirty="0"/>
          </a:p>
        </p:txBody>
      </p:sp>
      <p:sp>
        <p:nvSpPr>
          <p:cNvPr id="61" name="Text 26"/>
          <p:cNvSpPr/>
          <p:nvPr/>
        </p:nvSpPr>
        <p:spPr>
          <a:xfrm>
            <a:off x="6705600" y="5638800"/>
            <a:ext cx="32918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提供全方位商家管理工具，降低运营成本</a:t>
            </a:r>
            <a:endParaRPr lang="en-US" sz="1200" dirty="0"/>
          </a:p>
        </p:txBody>
      </p:sp>
      <p:sp>
        <p:nvSpPr>
          <p:cNvPr id="62" name="Text 27"/>
          <p:cNvSpPr/>
          <p:nvPr/>
        </p:nvSpPr>
        <p:spPr>
          <a:xfrm>
            <a:off x="6705600" y="5943600"/>
            <a:ext cx="365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标准化商家管理流程，提升平台整体服务质量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4900"/>
            <a:ext cx="11430000" cy="723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27635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3" y="1333500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438400"/>
            <a:ext cx="2203847" cy="1333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223" y="2552700"/>
            <a:ext cx="533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8623" y="26670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0097" y="3095625"/>
            <a:ext cx="681038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6384" y="2438400"/>
            <a:ext cx="2203847" cy="1333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1608" y="2552700"/>
            <a:ext cx="53340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9720" y="26670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5481" y="3095625"/>
            <a:ext cx="681038" cy="19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1769" y="2438400"/>
            <a:ext cx="2203847" cy="1333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6992" y="2552700"/>
            <a:ext cx="53340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0817" y="266700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0866" y="3095625"/>
            <a:ext cx="681038" cy="19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07153" y="2438400"/>
            <a:ext cx="2203847" cy="1333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42377" y="2552700"/>
            <a:ext cx="533400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94777" y="266700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4000500"/>
            <a:ext cx="5600700" cy="2209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4000500"/>
            <a:ext cx="5600700" cy="2209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62700" y="4572000"/>
            <a:ext cx="266700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19850" y="46291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62700" y="5067300"/>
            <a:ext cx="266700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512445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62700" y="5562600"/>
            <a:ext cx="266700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19850" y="5619750"/>
            <a:ext cx="15240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精细化订单管理流程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1028700" y="1219200"/>
            <a:ext cx="3962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设计原则："逻辑分离"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1028700" y="1485900"/>
            <a:ext cx="47548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对不同旅游产品进行独立订单处理，确保业务流程清晰高效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381000" y="2057400"/>
            <a:ext cx="11430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订单全生命周期流程</a:t>
            </a:r>
            <a:endParaRPr lang="en-US" sz="1500" dirty="0"/>
          </a:p>
        </p:txBody>
      </p:sp>
      <p:sp>
        <p:nvSpPr>
          <p:cNvPr id="37" name="Text 4"/>
          <p:cNvSpPr/>
          <p:nvPr/>
        </p:nvSpPr>
        <p:spPr>
          <a:xfrm>
            <a:off x="495300" y="3162300"/>
            <a:ext cx="19752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订单创建</a:t>
            </a:r>
            <a:endParaRPr lang="en-US" sz="1350" dirty="0"/>
          </a:p>
        </p:txBody>
      </p:sp>
      <p:sp>
        <p:nvSpPr>
          <p:cNvPr id="38" name="Text 5"/>
          <p:cNvSpPr/>
          <p:nvPr/>
        </p:nvSpPr>
        <p:spPr>
          <a:xfrm>
            <a:off x="297775" y="3467100"/>
            <a:ext cx="2370296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用户选择产品，生成待支付订单</a:t>
            </a:r>
            <a:endParaRPr lang="en-US" sz="1050" dirty="0"/>
          </a:p>
        </p:txBody>
      </p:sp>
      <p:sp>
        <p:nvSpPr>
          <p:cNvPr id="39" name="Text 6"/>
          <p:cNvSpPr/>
          <p:nvPr/>
        </p:nvSpPr>
        <p:spPr>
          <a:xfrm>
            <a:off x="3570684" y="3162300"/>
            <a:ext cx="19752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支付处理</a:t>
            </a:r>
            <a:endParaRPr lang="en-US" sz="1350" dirty="0"/>
          </a:p>
        </p:txBody>
      </p:sp>
      <p:sp>
        <p:nvSpPr>
          <p:cNvPr id="40" name="Text 7"/>
          <p:cNvSpPr/>
          <p:nvPr/>
        </p:nvSpPr>
        <p:spPr>
          <a:xfrm>
            <a:off x="3373160" y="3467100"/>
            <a:ext cx="2370296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集成第三方支付接口，安全便捷</a:t>
            </a:r>
            <a:endParaRPr lang="en-US" sz="1050" dirty="0"/>
          </a:p>
        </p:txBody>
      </p:sp>
      <p:sp>
        <p:nvSpPr>
          <p:cNvPr id="41" name="Text 8"/>
          <p:cNvSpPr/>
          <p:nvPr/>
        </p:nvSpPr>
        <p:spPr>
          <a:xfrm>
            <a:off x="6646069" y="3162300"/>
            <a:ext cx="19752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状态跟踪</a:t>
            </a:r>
            <a:endParaRPr lang="en-US" sz="1350" dirty="0"/>
          </a:p>
        </p:txBody>
      </p:sp>
      <p:sp>
        <p:nvSpPr>
          <p:cNvPr id="42" name="Text 9"/>
          <p:cNvSpPr/>
          <p:nvPr/>
        </p:nvSpPr>
        <p:spPr>
          <a:xfrm>
            <a:off x="6448544" y="3467100"/>
            <a:ext cx="2370296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订单状态实时更新，可被追踪</a:t>
            </a:r>
            <a:endParaRPr lang="en-US" sz="1050" dirty="0"/>
          </a:p>
        </p:txBody>
      </p:sp>
      <p:sp>
        <p:nvSpPr>
          <p:cNvPr id="43" name="Text 10"/>
          <p:cNvSpPr/>
          <p:nvPr/>
        </p:nvSpPr>
        <p:spPr>
          <a:xfrm>
            <a:off x="9721453" y="3162300"/>
            <a:ext cx="19752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详情查看</a:t>
            </a:r>
            <a:endParaRPr lang="en-US" sz="1350" dirty="0"/>
          </a:p>
        </p:txBody>
      </p:sp>
      <p:sp>
        <p:nvSpPr>
          <p:cNvPr id="44" name="Text 11"/>
          <p:cNvSpPr/>
          <p:nvPr/>
        </p:nvSpPr>
        <p:spPr>
          <a:xfrm>
            <a:off x="9523928" y="3467100"/>
            <a:ext cx="2370296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用户商家可随时查看订单详情</a:t>
            </a:r>
            <a:endParaRPr lang="en-US" sz="1050" dirty="0"/>
          </a:p>
        </p:txBody>
      </p:sp>
      <p:sp>
        <p:nvSpPr>
          <p:cNvPr id="45" name="Text 12"/>
          <p:cNvSpPr/>
          <p:nvPr/>
        </p:nvSpPr>
        <p:spPr>
          <a:xfrm>
            <a:off x="533400" y="4152900"/>
            <a:ext cx="5295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订单状态流转</a:t>
            </a:r>
            <a:endParaRPr lang="en-US" sz="1500" dirty="0"/>
          </a:p>
        </p:txBody>
      </p:sp>
      <p:sp>
        <p:nvSpPr>
          <p:cNvPr id="46" name="Text 13"/>
          <p:cNvSpPr/>
          <p:nvPr/>
        </p:nvSpPr>
        <p:spPr>
          <a:xfrm>
            <a:off x="6362700" y="4152900"/>
            <a:ext cx="5295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核心功能特点</a:t>
            </a:r>
            <a:endParaRPr lang="en-US" sz="1500" dirty="0"/>
          </a:p>
        </p:txBody>
      </p:sp>
      <p:sp>
        <p:nvSpPr>
          <p:cNvPr id="47" name="Text 14"/>
          <p:cNvSpPr/>
          <p:nvPr/>
        </p:nvSpPr>
        <p:spPr>
          <a:xfrm>
            <a:off x="6705600" y="4533900"/>
            <a:ext cx="12801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实时状态更新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6705600" y="4762500"/>
            <a:ext cx="12801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订单状态实时流转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6705600" y="5029200"/>
            <a:ext cx="1600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双角色可见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6705600" y="5257800"/>
            <a:ext cx="1600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用户商家均可查看详情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6705600" y="5524500"/>
            <a:ext cx="14401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完整生命周期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6705600" y="5753100"/>
            <a:ext cx="14401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覆盖全生命周期管理</a:t>
            </a:r>
            <a:endParaRPr lang="en-US" sz="1050" dirty="0"/>
          </a:p>
        </p:txBody>
      </p:sp>
      <p:sp>
        <p:nvSpPr>
          <p:cNvPr id="32" name="椭圆 31"/>
          <p:cNvSpPr/>
          <p:nvPr/>
        </p:nvSpPr>
        <p:spPr>
          <a:xfrm>
            <a:off x="757238" y="5029200"/>
            <a:ext cx="763652" cy="7636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b="1" dirty="0"/>
              <a:t>待支付</a:t>
            </a:r>
            <a:endParaRPr lang="zh-CN" altLang="en-US" sz="900" b="1" dirty="0"/>
          </a:p>
        </p:txBody>
      </p:sp>
      <p:sp>
        <p:nvSpPr>
          <p:cNvPr id="53" name="椭圆 52"/>
          <p:cNvSpPr/>
          <p:nvPr/>
        </p:nvSpPr>
        <p:spPr>
          <a:xfrm>
            <a:off x="1673290" y="5024235"/>
            <a:ext cx="763652" cy="7636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b="1" dirty="0"/>
              <a:t>已支付</a:t>
            </a:r>
            <a:endParaRPr lang="zh-CN" altLang="en-US" sz="900" b="1" dirty="0"/>
          </a:p>
        </p:txBody>
      </p:sp>
      <p:sp>
        <p:nvSpPr>
          <p:cNvPr id="54" name="椭圆 53"/>
          <p:cNvSpPr/>
          <p:nvPr/>
        </p:nvSpPr>
        <p:spPr>
          <a:xfrm>
            <a:off x="2589342" y="5028873"/>
            <a:ext cx="763652" cy="7636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b="1" dirty="0"/>
              <a:t>待出行</a:t>
            </a:r>
            <a:endParaRPr lang="zh-CN" altLang="en-US" sz="900" b="1" dirty="0"/>
          </a:p>
        </p:txBody>
      </p:sp>
      <p:sp>
        <p:nvSpPr>
          <p:cNvPr id="55" name="椭圆 54"/>
          <p:cNvSpPr/>
          <p:nvPr/>
        </p:nvSpPr>
        <p:spPr>
          <a:xfrm>
            <a:off x="3505394" y="5029200"/>
            <a:ext cx="763652" cy="7636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b="1" dirty="0"/>
              <a:t>已完成</a:t>
            </a:r>
            <a:endParaRPr lang="zh-CN" altLang="en-US" sz="900" b="1" dirty="0"/>
          </a:p>
        </p:txBody>
      </p:sp>
      <p:sp>
        <p:nvSpPr>
          <p:cNvPr id="56" name="椭圆 55"/>
          <p:cNvSpPr/>
          <p:nvPr/>
        </p:nvSpPr>
        <p:spPr>
          <a:xfrm>
            <a:off x="4421446" y="5029200"/>
            <a:ext cx="763652" cy="7636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b="1" dirty="0"/>
              <a:t>已取消</a:t>
            </a:r>
            <a:endParaRPr lang="zh-CN" altLang="en-US" sz="9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4900"/>
            <a:ext cx="35814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2573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3" y="1314450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514600"/>
            <a:ext cx="3581400" cy="1257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6670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27241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924300"/>
            <a:ext cx="3581400" cy="1257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0767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838" y="41338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0" y="2419350"/>
            <a:ext cx="5715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0" y="1028700"/>
            <a:ext cx="762000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5988" y="125730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43750" y="2457450"/>
            <a:ext cx="76200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0450" y="268605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0" y="3886200"/>
            <a:ext cx="762000" cy="762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81700" y="41148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86250" y="2457450"/>
            <a:ext cx="762000" cy="762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67238" y="2686050"/>
            <a:ext cx="200025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31334" y="4495800"/>
            <a:ext cx="1329333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29600" y="1104900"/>
            <a:ext cx="3581400" cy="2133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58200" y="17907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58200" y="21336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58200" y="24765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58200" y="2819400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互动式社区生态构建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1028700" y="1314450"/>
            <a:ext cx="1600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游记浏览与搜索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533400" y="1752600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用户可浏览其他用户发布的游记、攻略，并通过关键词搜索感兴趣的内容。</a:t>
            </a:r>
            <a:endParaRPr lang="en-US" sz="1200" dirty="0"/>
          </a:p>
        </p:txBody>
      </p:sp>
      <p:sp>
        <p:nvSpPr>
          <p:cNvPr id="35" name="Text 3"/>
          <p:cNvSpPr/>
          <p:nvPr/>
        </p:nvSpPr>
        <p:spPr>
          <a:xfrm>
            <a:off x="1028700" y="272415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内容发布</a:t>
            </a:r>
            <a:endParaRPr lang="en-US" sz="1500" dirty="0"/>
          </a:p>
        </p:txBody>
      </p:sp>
      <p:sp>
        <p:nvSpPr>
          <p:cNvPr id="36" name="Text 4"/>
          <p:cNvSpPr/>
          <p:nvPr/>
        </p:nvSpPr>
        <p:spPr>
          <a:xfrm>
            <a:off x="533400" y="3162300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用户可以发布自己的旅行游记、图片和视频，分享旅行体验。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1028700" y="4133850"/>
            <a:ext cx="114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评论与点赞</a:t>
            </a:r>
            <a:endParaRPr lang="en-US" sz="1500" dirty="0"/>
          </a:p>
        </p:txBody>
      </p:sp>
      <p:sp>
        <p:nvSpPr>
          <p:cNvPr id="38" name="Text 6"/>
          <p:cNvSpPr/>
          <p:nvPr/>
        </p:nvSpPr>
        <p:spPr>
          <a:xfrm>
            <a:off x="533400" y="4572000"/>
            <a:ext cx="3276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用户可以对感兴趣的游记进行评论、点赞，与其他旅行爱好者进行互动。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5638800" y="299085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社区生态</a:t>
            </a:r>
            <a:endParaRPr lang="en-US" sz="1500" dirty="0"/>
          </a:p>
        </p:txBody>
      </p:sp>
      <p:sp>
        <p:nvSpPr>
          <p:cNvPr id="40" name="Text 8"/>
          <p:cNvSpPr/>
          <p:nvPr/>
        </p:nvSpPr>
        <p:spPr>
          <a:xfrm>
            <a:off x="5565100" y="4572000"/>
            <a:ext cx="113799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UGC良性循环</a:t>
            </a:r>
            <a:endParaRPr lang="en-US" sz="1200" dirty="0"/>
          </a:p>
        </p:txBody>
      </p:sp>
      <p:sp>
        <p:nvSpPr>
          <p:cNvPr id="41" name="Text 9"/>
          <p:cNvSpPr/>
          <p:nvPr/>
        </p:nvSpPr>
        <p:spPr>
          <a:xfrm>
            <a:off x="8458200" y="1333500"/>
            <a:ext cx="312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社区生态价值</a:t>
            </a:r>
            <a:endParaRPr lang="en-US" sz="1500" dirty="0"/>
          </a:p>
        </p:txBody>
      </p:sp>
      <p:sp>
        <p:nvSpPr>
          <p:cNvPr id="42" name="Text 10"/>
          <p:cNvSpPr/>
          <p:nvPr/>
        </p:nvSpPr>
        <p:spPr>
          <a:xfrm>
            <a:off x="8686800" y="1752600"/>
            <a:ext cx="2560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增强用户粘性，提高平台活跃度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8686800" y="2095500"/>
            <a:ext cx="2743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为用户提供丰富的旅行参考和灵感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8686800" y="2438400"/>
            <a:ext cx="2377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形成用户生成内容的良性循环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8686800" y="27813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降低平台内容生产成本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81100"/>
            <a:ext cx="5562600" cy="430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097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4859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095500"/>
            <a:ext cx="5105400" cy="800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286000"/>
            <a:ext cx="1714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048000"/>
            <a:ext cx="5105400" cy="102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2385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229100"/>
            <a:ext cx="5105400" cy="1028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181100"/>
            <a:ext cx="5562600" cy="430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4097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9875" y="1485900"/>
            <a:ext cx="1714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2095500"/>
            <a:ext cx="5105400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22860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3276600"/>
            <a:ext cx="510540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34671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229100"/>
            <a:ext cx="5105400" cy="1028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419600"/>
            <a:ext cx="219075" cy="2667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安全与接口要求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219200" y="1485900"/>
            <a:ext cx="1097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安全要求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1085850" y="2247900"/>
            <a:ext cx="3962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用户密码存储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1085850" y="2514600"/>
            <a:ext cx="47548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用户密码必须经过哈希加盐处理后存储，以防止明文泄露。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1104900" y="3200400"/>
            <a:ext cx="44577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API接口认证与授权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1104900" y="3467100"/>
            <a:ext cx="44577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所有API接口均需进行严格的认证与授权校验，杜绝未经授权的访问。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914400" y="4381500"/>
            <a:ext cx="4648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Web安全漏洞防范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914400" y="4648200"/>
            <a:ext cx="4648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系统需有效防范OWASP Top 10中常见的Web安全漏洞，包括但不限于SQL注入、跨站脚本攻击（XSS）等。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7086600" y="1485900"/>
            <a:ext cx="10972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接口要求</a:t>
            </a:r>
            <a:endParaRPr lang="en-US" sz="1800" dirty="0"/>
          </a:p>
        </p:txBody>
      </p:sp>
      <p:sp>
        <p:nvSpPr>
          <p:cNvPr id="32" name="Text 9"/>
          <p:cNvSpPr/>
          <p:nvPr/>
        </p:nvSpPr>
        <p:spPr>
          <a:xfrm>
            <a:off x="6972300" y="2247900"/>
            <a:ext cx="44577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支付接口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6972300" y="2514600"/>
            <a:ext cx="44577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后端需集成微信支付和支付宝的官方SDK，并调用其API完成支付流程。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6972300" y="3429000"/>
            <a:ext cx="390331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短信服务接口</a:t>
            </a:r>
            <a:endParaRPr lang="en-US" sz="1350" dirty="0"/>
          </a:p>
        </p:txBody>
      </p:sp>
      <p:sp>
        <p:nvSpPr>
          <p:cNvPr id="35" name="Text 12"/>
          <p:cNvSpPr/>
          <p:nvPr/>
        </p:nvSpPr>
        <p:spPr>
          <a:xfrm>
            <a:off x="6972300" y="3695700"/>
            <a:ext cx="468397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后端需调用第三方短信服务API，用于发送手机验证码等。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7000875" y="4381500"/>
            <a:ext cx="442912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地图服务接口</a:t>
            </a:r>
            <a:endParaRPr lang="en-US" sz="1350" dirty="0"/>
          </a:p>
        </p:txBody>
      </p:sp>
      <p:sp>
        <p:nvSpPr>
          <p:cNvPr id="37" name="Text 14"/>
          <p:cNvSpPr/>
          <p:nvPr/>
        </p:nvSpPr>
        <p:spPr>
          <a:xfrm>
            <a:off x="7000875" y="4648200"/>
            <a:ext cx="442912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前端需调用地图服务商的JS API，以展示酒店、景点等地理位置信息。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903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81100"/>
            <a:ext cx="5562600" cy="2171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097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88" y="148590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581400"/>
            <a:ext cx="5562600" cy="1943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8100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38862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9200" y="4762500"/>
            <a:ext cx="87436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500" y="48291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7865" y="4762500"/>
            <a:ext cx="80769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2165" y="48291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9855" y="4762500"/>
            <a:ext cx="748457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4155" y="4829175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92612" y="4762500"/>
            <a:ext cx="711547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6912" y="4829175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181100"/>
            <a:ext cx="5562600" cy="1905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140970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9875" y="1485900"/>
            <a:ext cx="17145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6600" y="20574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6600" y="23622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6600" y="26670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3314700"/>
            <a:ext cx="5562600" cy="2019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3543300"/>
            <a:ext cx="4572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62725" y="3619500"/>
            <a:ext cx="28575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86600" y="417195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19950" y="428625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86600" y="4705350"/>
            <a:ext cx="38100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19950" y="4819650"/>
            <a:ext cx="114300" cy="1524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设计约束条件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1219200" y="150495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数据命名规范</a:t>
            </a:r>
            <a:endParaRPr lang="en-US" sz="1500" dirty="0"/>
          </a:p>
        </p:txBody>
      </p:sp>
      <p:sp>
        <p:nvSpPr>
          <p:cNvPr id="37" name="Text 2"/>
          <p:cNvSpPr/>
          <p:nvPr/>
        </p:nvSpPr>
        <p:spPr>
          <a:xfrm>
            <a:off x="1219200" y="2019300"/>
            <a:ext cx="53949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数据库表和字段命名统一且有意义</a:t>
            </a:r>
            <a:endParaRPr lang="en-US" sz="1200" dirty="0"/>
          </a:p>
        </p:txBody>
      </p:sp>
      <p:sp>
        <p:nvSpPr>
          <p:cNvPr id="38" name="Text 3"/>
          <p:cNvSpPr/>
          <p:nvPr/>
        </p:nvSpPr>
        <p:spPr>
          <a:xfrm>
            <a:off x="1304925" y="2362200"/>
            <a:ext cx="4610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表名采用下划线命名法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1304925" y="2628900"/>
            <a:ext cx="4610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字段名清晰表达数据含义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1304925" y="2895600"/>
            <a:ext cx="4610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避免使用保留字和特殊字符</a:t>
            </a:r>
            <a:endParaRPr lang="en-US" sz="1200" dirty="0"/>
          </a:p>
        </p:txBody>
      </p:sp>
      <p:sp>
        <p:nvSpPr>
          <p:cNvPr id="41" name="Text 6"/>
          <p:cNvSpPr/>
          <p:nvPr/>
        </p:nvSpPr>
        <p:spPr>
          <a:xfrm>
            <a:off x="1219200" y="390525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跨平台兼容性</a:t>
            </a:r>
            <a:endParaRPr lang="en-US" sz="1500" dirty="0"/>
          </a:p>
        </p:txBody>
      </p:sp>
      <p:sp>
        <p:nvSpPr>
          <p:cNvPr id="42" name="Text 7"/>
          <p:cNvSpPr/>
          <p:nvPr/>
        </p:nvSpPr>
        <p:spPr>
          <a:xfrm>
            <a:off x="1219200" y="4419600"/>
            <a:ext cx="449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良好的跨平台兼容性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1504950" y="4800600"/>
            <a:ext cx="104923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Chrome</a:t>
            </a:r>
            <a:endParaRPr lang="en-US" sz="1050" dirty="0"/>
          </a:p>
        </p:txBody>
      </p:sp>
      <p:sp>
        <p:nvSpPr>
          <p:cNvPr id="44" name="Text 9"/>
          <p:cNvSpPr/>
          <p:nvPr/>
        </p:nvSpPr>
        <p:spPr>
          <a:xfrm>
            <a:off x="2493615" y="4800600"/>
            <a:ext cx="96922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Firefox</a:t>
            </a:r>
            <a:endParaRPr lang="en-US" sz="1050" dirty="0"/>
          </a:p>
        </p:txBody>
      </p:sp>
      <p:sp>
        <p:nvSpPr>
          <p:cNvPr id="45" name="Text 10"/>
          <p:cNvSpPr/>
          <p:nvPr/>
        </p:nvSpPr>
        <p:spPr>
          <a:xfrm>
            <a:off x="3415605" y="4800600"/>
            <a:ext cx="89814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Safari</a:t>
            </a:r>
            <a:endParaRPr lang="en-US" sz="1050" dirty="0"/>
          </a:p>
        </p:txBody>
      </p:sp>
      <p:sp>
        <p:nvSpPr>
          <p:cNvPr id="46" name="Text 11"/>
          <p:cNvSpPr/>
          <p:nvPr/>
        </p:nvSpPr>
        <p:spPr>
          <a:xfrm>
            <a:off x="4278362" y="4800600"/>
            <a:ext cx="7115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Edge</a:t>
            </a:r>
            <a:endParaRPr lang="en-US" sz="1050" dirty="0"/>
          </a:p>
        </p:txBody>
      </p:sp>
      <p:sp>
        <p:nvSpPr>
          <p:cNvPr id="47" name="Text 12"/>
          <p:cNvSpPr/>
          <p:nvPr/>
        </p:nvSpPr>
        <p:spPr>
          <a:xfrm>
            <a:off x="1219200" y="5105400"/>
            <a:ext cx="53949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 err="1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可在安装了浏览器的PC或移动设备上稳定运行</a:t>
            </a:r>
            <a:endParaRPr lang="en-US" sz="1050" dirty="0"/>
          </a:p>
        </p:txBody>
      </p:sp>
      <p:sp>
        <p:nvSpPr>
          <p:cNvPr id="48" name="Text 13"/>
          <p:cNvSpPr/>
          <p:nvPr/>
        </p:nvSpPr>
        <p:spPr>
          <a:xfrm>
            <a:off x="7086600" y="1504950"/>
            <a:ext cx="1600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文档与代码结构</a:t>
            </a:r>
            <a:endParaRPr lang="en-US" sz="1500" dirty="0"/>
          </a:p>
        </p:txBody>
      </p:sp>
      <p:sp>
        <p:nvSpPr>
          <p:cNvPr id="49" name="Text 14"/>
          <p:cNvSpPr/>
          <p:nvPr/>
        </p:nvSpPr>
        <p:spPr>
          <a:xfrm>
            <a:off x="7315200" y="2019300"/>
            <a:ext cx="2011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提供详细的系统设计文档</a:t>
            </a:r>
            <a:endParaRPr lang="en-US" sz="1200" dirty="0"/>
          </a:p>
        </p:txBody>
      </p:sp>
      <p:sp>
        <p:nvSpPr>
          <p:cNvPr id="50" name="Text 15"/>
          <p:cNvSpPr/>
          <p:nvPr/>
        </p:nvSpPr>
        <p:spPr>
          <a:xfrm>
            <a:off x="7315200" y="23241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提供完整的系统源代码</a:t>
            </a: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7315200" y="2628900"/>
            <a:ext cx="2926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采用模块化的代码结构以降低耦合度</a:t>
            </a:r>
            <a:endParaRPr lang="en-US" sz="1200" dirty="0"/>
          </a:p>
        </p:txBody>
      </p:sp>
      <p:sp>
        <p:nvSpPr>
          <p:cNvPr id="52" name="Text 17"/>
          <p:cNvSpPr/>
          <p:nvPr/>
        </p:nvSpPr>
        <p:spPr>
          <a:xfrm>
            <a:off x="7086600" y="363855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技术可移植性</a:t>
            </a:r>
            <a:endParaRPr lang="en-US" sz="1500" dirty="0"/>
          </a:p>
        </p:txBody>
      </p:sp>
      <p:sp>
        <p:nvSpPr>
          <p:cNvPr id="53" name="Text 18"/>
          <p:cNvSpPr/>
          <p:nvPr/>
        </p:nvSpPr>
        <p:spPr>
          <a:xfrm>
            <a:off x="7581900" y="4152900"/>
            <a:ext cx="2400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后端基于Java开发</a:t>
            </a:r>
            <a:endParaRPr lang="en-US" sz="1200" dirty="0"/>
          </a:p>
        </p:txBody>
      </p:sp>
      <p:sp>
        <p:nvSpPr>
          <p:cNvPr id="54" name="Text 19"/>
          <p:cNvSpPr/>
          <p:nvPr/>
        </p:nvSpPr>
        <p:spPr>
          <a:xfrm>
            <a:off x="7581900" y="4381500"/>
            <a:ext cx="2400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可移植到任何支持JVM的操作系统</a:t>
            </a:r>
            <a:endParaRPr lang="en-US" sz="1050" dirty="0"/>
          </a:p>
        </p:txBody>
      </p:sp>
      <p:sp>
        <p:nvSpPr>
          <p:cNvPr id="55" name="Text 20"/>
          <p:cNvSpPr/>
          <p:nvPr/>
        </p:nvSpPr>
        <p:spPr>
          <a:xfrm>
            <a:off x="7581900" y="4686300"/>
            <a:ext cx="19202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前端基于Web标准</a:t>
            </a:r>
            <a:endParaRPr lang="en-US" sz="1200" dirty="0"/>
          </a:p>
        </p:txBody>
      </p:sp>
      <p:sp>
        <p:nvSpPr>
          <p:cNvPr id="56" name="Text 21"/>
          <p:cNvSpPr/>
          <p:nvPr/>
        </p:nvSpPr>
        <p:spPr>
          <a:xfrm>
            <a:off x="7581900" y="4914900"/>
            <a:ext cx="19202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可在所有现代浏览器上运行</a:t>
            </a:r>
            <a:endParaRPr lang="en-US" sz="1050" dirty="0"/>
          </a:p>
        </p:txBody>
      </p:sp>
      <p:sp>
        <p:nvSpPr>
          <p:cNvPr id="59" name="文本框 58"/>
          <p:cNvSpPr txBox="1"/>
          <p:nvPr/>
        </p:nvSpPr>
        <p:spPr>
          <a:xfrm>
            <a:off x="1212155" y="5892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15185" y="2194101"/>
            <a:ext cx="3980463" cy="3973337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采用</a:t>
            </a:r>
            <a:r>
              <a:rPr lang="zh-CN" altLang="en-US" sz="2000" b="1" dirty="0"/>
              <a:t>中文技术文档的写作规范</a:t>
            </a:r>
            <a:endParaRPr lang="zh-CN" altLang="en-US" sz="2000" b="1" dirty="0">
              <a:hlinkClick r:id="rId1"/>
            </a:endParaRPr>
          </a:p>
          <a:p>
            <a:r>
              <a:rPr lang="zh-CN" altLang="en-US" sz="2000" dirty="0"/>
              <a:t>采用 </a:t>
            </a:r>
            <a:r>
              <a:rPr lang="en-US" altLang="zh-CN" sz="2000" dirty="0"/>
              <a:t>Gitea </a:t>
            </a:r>
            <a:r>
              <a:rPr lang="zh-CN" altLang="en-US" sz="2000" dirty="0"/>
              <a:t>来进行版本管理和备份</a:t>
            </a:r>
            <a:endParaRPr lang="en-US" altLang="zh-CN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790" y="1073835"/>
            <a:ext cx="2532273" cy="4710330"/>
          </a:xfrm>
          <a:prstGeom prst="rect">
            <a:avLst/>
          </a:prstGeom>
        </p:spPr>
      </p:pic>
      <p:pic>
        <p:nvPicPr>
          <p:cNvPr id="5" name="内容占位符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211" y="1549316"/>
            <a:ext cx="2828925" cy="37593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>
            <p:custDataLst>
              <p:tags r:id="rId1"/>
            </p:custDataLst>
          </p:nvPr>
        </p:nvSpPr>
        <p:spPr>
          <a:xfrm>
            <a:off x="7824785" y="822960"/>
            <a:ext cx="1821289" cy="4584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交流与测试阶段</a:t>
            </a:r>
            <a:endParaRPr lang="zh-CN" altLang="en-US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燕尾形箭头 12"/>
          <p:cNvSpPr/>
          <p:nvPr>
            <p:custDataLst>
              <p:tags r:id="rId2"/>
            </p:custDataLst>
          </p:nvPr>
        </p:nvSpPr>
        <p:spPr>
          <a:xfrm>
            <a:off x="645795" y="2868295"/>
            <a:ext cx="1755140" cy="1036320"/>
          </a:xfrm>
          <a:prstGeom prst="notchedRightArrow">
            <a:avLst/>
          </a:prstGeom>
          <a:gradFill>
            <a:gsLst>
              <a:gs pos="16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燕尾形箭头 13"/>
          <p:cNvSpPr/>
          <p:nvPr>
            <p:custDataLst>
              <p:tags r:id="rId3"/>
            </p:custDataLst>
          </p:nvPr>
        </p:nvSpPr>
        <p:spPr>
          <a:xfrm>
            <a:off x="2369185" y="2868295"/>
            <a:ext cx="1755140" cy="1036320"/>
          </a:xfrm>
          <a:prstGeom prst="notchedRightArrow">
            <a:avLst/>
          </a:prstGeom>
          <a:gradFill>
            <a:gsLst>
              <a:gs pos="16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燕尾形箭头 72"/>
          <p:cNvSpPr/>
          <p:nvPr>
            <p:custDataLst>
              <p:tags r:id="rId4"/>
            </p:custDataLst>
          </p:nvPr>
        </p:nvSpPr>
        <p:spPr>
          <a:xfrm>
            <a:off x="4079875" y="2868295"/>
            <a:ext cx="1755140" cy="1036320"/>
          </a:xfrm>
          <a:prstGeom prst="notchedRightArrow">
            <a:avLst/>
          </a:prstGeom>
          <a:gradFill>
            <a:gsLst>
              <a:gs pos="16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燕尾形箭头 76"/>
          <p:cNvSpPr/>
          <p:nvPr>
            <p:custDataLst>
              <p:tags r:id="rId5"/>
            </p:custDataLst>
          </p:nvPr>
        </p:nvSpPr>
        <p:spPr>
          <a:xfrm>
            <a:off x="5802630" y="2868295"/>
            <a:ext cx="1755140" cy="1036320"/>
          </a:xfrm>
          <a:prstGeom prst="notchedRightArrow">
            <a:avLst/>
          </a:prstGeom>
          <a:gradFill>
            <a:gsLst>
              <a:gs pos="16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0" name="燕尾形箭头 89"/>
          <p:cNvSpPr/>
          <p:nvPr>
            <p:custDataLst>
              <p:tags r:id="rId6"/>
            </p:custDataLst>
          </p:nvPr>
        </p:nvSpPr>
        <p:spPr>
          <a:xfrm>
            <a:off x="7513320" y="2868295"/>
            <a:ext cx="1755140" cy="1036320"/>
          </a:xfrm>
          <a:prstGeom prst="notchedRightArrow">
            <a:avLst/>
          </a:prstGeom>
          <a:gradFill>
            <a:gsLst>
              <a:gs pos="16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05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4" name="燕尾形箭头 93"/>
          <p:cNvSpPr/>
          <p:nvPr>
            <p:custDataLst>
              <p:tags r:id="rId7"/>
            </p:custDataLst>
          </p:nvPr>
        </p:nvSpPr>
        <p:spPr>
          <a:xfrm>
            <a:off x="9236710" y="2868295"/>
            <a:ext cx="1755140" cy="1036320"/>
          </a:xfrm>
          <a:prstGeom prst="notchedRightArrow">
            <a:avLst/>
          </a:prstGeom>
          <a:gradFill>
            <a:gsLst>
              <a:gs pos="16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63500" dist="635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145" tIns="71755" rIns="144145" bIns="3619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06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8"/>
            </p:custDataLst>
          </p:nvPr>
        </p:nvSpPr>
        <p:spPr>
          <a:xfrm>
            <a:off x="886460" y="1295400"/>
            <a:ext cx="1592580" cy="4584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项目招投标阶段</a:t>
            </a:r>
            <a:endParaRPr lang="zh-CN" altLang="en-US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>
          <a:xfrm>
            <a:off x="886460" y="1827530"/>
            <a:ext cx="1592580" cy="929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响应招标需求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编制投标文件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参与投标评审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中标公示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5" name="直接连接符 4"/>
          <p:cNvCxnSpPr/>
          <p:nvPr>
            <p:custDataLst>
              <p:tags r:id="rId10"/>
            </p:custDataLst>
          </p:nvPr>
        </p:nvCxnSpPr>
        <p:spPr>
          <a:xfrm>
            <a:off x="645160" y="1343025"/>
            <a:ext cx="0" cy="1794510"/>
          </a:xfrm>
          <a:prstGeom prst="line">
            <a:avLst/>
          </a:prstGeom>
          <a:ln w="3175">
            <a:solidFill>
              <a:schemeClr val="accent1">
                <a:alpha val="44000"/>
              </a:schemeClr>
            </a:solidFill>
            <a:headEnd type="oval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11"/>
            </p:custDataLst>
          </p:nvPr>
        </p:nvCxnSpPr>
        <p:spPr>
          <a:xfrm>
            <a:off x="2379980" y="3640455"/>
            <a:ext cx="0" cy="1936115"/>
          </a:xfrm>
          <a:prstGeom prst="line">
            <a:avLst/>
          </a:prstGeom>
          <a:ln w="3175">
            <a:solidFill>
              <a:schemeClr val="accent2">
                <a:alpha val="44000"/>
              </a:schemeClr>
            </a:solidFill>
            <a:headEnd type="none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12"/>
            </p:custDataLst>
          </p:nvPr>
        </p:nvCxnSpPr>
        <p:spPr>
          <a:xfrm>
            <a:off x="4083685" y="1343025"/>
            <a:ext cx="0" cy="1793240"/>
          </a:xfrm>
          <a:prstGeom prst="line">
            <a:avLst/>
          </a:prstGeom>
          <a:ln w="3175">
            <a:solidFill>
              <a:schemeClr val="accent1">
                <a:alpha val="44000"/>
              </a:schemeClr>
            </a:solidFill>
            <a:headEnd type="oval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>
            <p:custDataLst>
              <p:tags r:id="rId13"/>
            </p:custDataLst>
          </p:nvPr>
        </p:nvSpPr>
        <p:spPr>
          <a:xfrm>
            <a:off x="6052820" y="4145915"/>
            <a:ext cx="1592580" cy="4584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系统开发阶段</a:t>
            </a:r>
            <a:endParaRPr lang="zh-CN" altLang="en-US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4"/>
            </p:custDataLst>
          </p:nvPr>
        </p:nvSpPr>
        <p:spPr>
          <a:xfrm>
            <a:off x="5888990" y="4669790"/>
            <a:ext cx="3256280" cy="929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后端开发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(Java+Spring Boot)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前端开发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(Vue3+TypeScript+Unibest)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第三方接口集成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核心功能实现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15"/>
            </p:custDataLst>
          </p:nvPr>
        </p:nvCxnSpPr>
        <p:spPr>
          <a:xfrm>
            <a:off x="5804535" y="3643630"/>
            <a:ext cx="0" cy="1936115"/>
          </a:xfrm>
          <a:prstGeom prst="line">
            <a:avLst/>
          </a:prstGeom>
          <a:ln w="3175">
            <a:solidFill>
              <a:schemeClr val="accent2">
                <a:alpha val="44000"/>
              </a:schemeClr>
            </a:solidFill>
            <a:headEnd type="none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16"/>
            </p:custDataLst>
          </p:nvPr>
        </p:nvCxnSpPr>
        <p:spPr>
          <a:xfrm>
            <a:off x="7519670" y="1343025"/>
            <a:ext cx="0" cy="1793240"/>
          </a:xfrm>
          <a:prstGeom prst="line">
            <a:avLst/>
          </a:prstGeom>
          <a:ln w="3175">
            <a:solidFill>
              <a:schemeClr val="accent1">
                <a:alpha val="44000"/>
              </a:schemeClr>
            </a:solidFill>
            <a:headEnd type="oval" w="sm" len="sm"/>
            <a:tailEnd type="non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7"/>
            </p:custDataLst>
          </p:nvPr>
        </p:nvCxnSpPr>
        <p:spPr>
          <a:xfrm>
            <a:off x="9244965" y="3641090"/>
            <a:ext cx="0" cy="1934845"/>
          </a:xfrm>
          <a:prstGeom prst="line">
            <a:avLst/>
          </a:prstGeom>
          <a:ln w="3175">
            <a:solidFill>
              <a:schemeClr val="accent2">
                <a:alpha val="44000"/>
              </a:schemeClr>
            </a:solidFill>
            <a:headEnd type="none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>
            <p:custDataLst>
              <p:tags r:id="rId18"/>
            </p:custDataLst>
          </p:nvPr>
        </p:nvSpPr>
        <p:spPr>
          <a:xfrm>
            <a:off x="4304030" y="829310"/>
            <a:ext cx="1592580" cy="4584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系统设计阶段</a:t>
            </a:r>
            <a:endParaRPr lang="zh-CN" altLang="en-US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8" name="矩形 37"/>
          <p:cNvSpPr/>
          <p:nvPr>
            <p:custDataLst>
              <p:tags r:id="rId19"/>
            </p:custDataLst>
          </p:nvPr>
        </p:nvSpPr>
        <p:spPr>
          <a:xfrm>
            <a:off x="4304030" y="1361440"/>
            <a:ext cx="3166110" cy="929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总体架构设计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子系统划分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数据库设计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接口设计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5.UI/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交互设计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1" name="矩形 40"/>
          <p:cNvSpPr/>
          <p:nvPr>
            <p:custDataLst>
              <p:tags r:id="rId20"/>
            </p:custDataLst>
          </p:nvPr>
        </p:nvSpPr>
        <p:spPr>
          <a:xfrm>
            <a:off x="7824786" y="1362710"/>
            <a:ext cx="3357245" cy="929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团队内部开发交流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模块联调与集成测试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功能测试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性能测试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问题修复与优化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3" name="矩形 42"/>
          <p:cNvSpPr/>
          <p:nvPr>
            <p:custDataLst>
              <p:tags r:id="rId21"/>
            </p:custDataLst>
          </p:nvPr>
        </p:nvSpPr>
        <p:spPr>
          <a:xfrm>
            <a:off x="2639060" y="4137660"/>
            <a:ext cx="1592580" cy="4584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需求分析阶段</a:t>
            </a:r>
            <a:endParaRPr lang="zh-CN" altLang="en-US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4" name="矩形 43"/>
          <p:cNvSpPr/>
          <p:nvPr>
            <p:custDataLst>
              <p:tags r:id="rId22"/>
            </p:custDataLst>
          </p:nvPr>
        </p:nvSpPr>
        <p:spPr>
          <a:xfrm>
            <a:off x="2639060" y="4669790"/>
            <a:ext cx="3147695" cy="929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市场调研与用户需求采集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商家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管理员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客户多角色需求梳理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功能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性能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接口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安全需求定义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需求文档评审确认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23"/>
            </p:custDataLst>
          </p:nvPr>
        </p:nvSpPr>
        <p:spPr>
          <a:xfrm>
            <a:off x="9503410" y="4129405"/>
            <a:ext cx="1592580" cy="45847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系统实施阶段</a:t>
            </a:r>
            <a:endParaRPr lang="zh-CN" altLang="en-US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4"/>
            </p:custDataLst>
          </p:nvPr>
        </p:nvSpPr>
        <p:spPr>
          <a:xfrm>
            <a:off x="9503409" y="4669790"/>
            <a:ext cx="2076359" cy="929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服务器部署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数据初始化与环境配置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3.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商家入驻与商品上线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用户推广与系统试运行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5.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正式运营与维护支持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 descr="图形用户界面, 应用程序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08" y="1495109"/>
            <a:ext cx="235224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49" name="Rectangl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75000"/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App页面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预期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823" y="1557339"/>
            <a:ext cx="2435399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图片 3"/>
          <p:cNvPicPr/>
          <p:nvPr/>
        </p:nvPicPr>
        <p:blipFill>
          <a:blip r:embed="rId3"/>
          <a:srcRect t="4367"/>
          <a:stretch>
            <a:fillRect/>
          </a:stretch>
        </p:blipFill>
        <p:spPr>
          <a:xfrm>
            <a:off x="450850" y="1558925"/>
            <a:ext cx="2347200" cy="47520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/>
          <a:srcRect b="3047"/>
          <a:stretch>
            <a:fillRect/>
          </a:stretch>
        </p:blipFill>
        <p:spPr>
          <a:xfrm>
            <a:off x="3467100" y="1558925"/>
            <a:ext cx="2339975" cy="475170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5"/>
          <a:stretch>
            <a:fillRect/>
          </a:stretch>
        </p:blipFill>
        <p:spPr>
          <a:xfrm>
            <a:off x="6285865" y="1557655"/>
            <a:ext cx="2434590" cy="475043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6"/>
          <a:stretch>
            <a:fillRect/>
          </a:stretch>
        </p:blipFill>
        <p:spPr>
          <a:xfrm>
            <a:off x="9323705" y="1558925"/>
            <a:ext cx="2601595" cy="47504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75000"/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App页面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实际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内容占位符 4" descr="社交网络的手机截图&#10;&#10;AI 生成的内容可能不正确。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"/>
          <a:stretch>
            <a:fillRect/>
          </a:stretch>
        </p:blipFill>
        <p:spPr>
          <a:xfrm>
            <a:off x="4986566" y="1378915"/>
            <a:ext cx="2425700" cy="465137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641" y="1378915"/>
            <a:ext cx="2435399" cy="47745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90" y="1378914"/>
            <a:ext cx="2435399" cy="47907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75000"/>
              <a:alpha val="7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App页面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实际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2" name="图片 21" descr="图形用户界面, 文本, 应用程序, 表格, Excel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260" y="1502094"/>
            <a:ext cx="235224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1" name="图片 10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476" y="1503045"/>
            <a:ext cx="2435399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  <a:noFill/>
        </p:grpSpPr>
        <p:sp>
          <p:nvSpPr>
            <p:cNvPr id="52" name="Rectangle 5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内容占位符 2" descr="屏幕截图 2025-12-03 184924"/>
          <p:cNvPicPr>
            <a:picLocks noGrp="1"/>
          </p:cNvPicPr>
          <p:nvPr>
            <p:ph idx="1"/>
          </p:nvPr>
        </p:nvPicPr>
        <p:blipFill>
          <a:blip r:embed="rId1"/>
          <a:srcRect t="6147"/>
          <a:stretch>
            <a:fillRect/>
          </a:stretch>
        </p:blipFill>
        <p:spPr>
          <a:xfrm>
            <a:off x="638810" y="1506220"/>
            <a:ext cx="2339975" cy="4752000"/>
          </a:xfrm>
          <a:prstGeom prst="rect">
            <a:avLst/>
          </a:prstGeom>
        </p:spPr>
      </p:pic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332107" y="37802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心动</a:t>
            </a:r>
            <a:r>
              <a:rPr lang="zh-CN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模式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预期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屏幕截图 2025-12-03 184955"/>
          <p:cNvPicPr/>
          <p:nvPr/>
        </p:nvPicPr>
        <p:blipFill>
          <a:blip r:embed="rId2"/>
          <a:srcRect t="6147"/>
          <a:stretch>
            <a:fillRect/>
          </a:stretch>
        </p:blipFill>
        <p:spPr>
          <a:xfrm>
            <a:off x="3477895" y="1506220"/>
            <a:ext cx="2339975" cy="4752000"/>
          </a:xfrm>
          <a:prstGeom prst="rect">
            <a:avLst/>
          </a:prstGeom>
        </p:spPr>
      </p:pic>
      <p:pic>
        <p:nvPicPr>
          <p:cNvPr id="5" name="图片 4" descr="屏幕截图 2025-12-03 185012"/>
          <p:cNvPicPr/>
          <p:nvPr/>
        </p:nvPicPr>
        <p:blipFill>
          <a:blip r:embed="rId3"/>
          <a:srcRect t="6147"/>
          <a:stretch>
            <a:fillRect/>
          </a:stretch>
        </p:blipFill>
        <p:spPr>
          <a:xfrm>
            <a:off x="9199880" y="1506220"/>
            <a:ext cx="2339975" cy="47520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/>
          <a:srcRect t="6147"/>
          <a:stretch>
            <a:fillRect/>
          </a:stretch>
        </p:blipFill>
        <p:spPr>
          <a:xfrm>
            <a:off x="6316980" y="1506220"/>
            <a:ext cx="2339975" cy="475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0" name="Rectangle 19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Freeform: Shap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图片 2" descr="e674bbc6332d4b12e123b72571ae0d68"/>
          <p:cNvPicPr>
            <a:picLocks noChangeAspect="1"/>
          </p:cNvPicPr>
          <p:nvPr/>
        </p:nvPicPr>
        <p:blipFill>
          <a:blip r:embed="rId1"/>
          <a:srcRect l="4648" t="981" r="1886" b="1120"/>
          <a:stretch>
            <a:fillRect/>
          </a:stretch>
        </p:blipFill>
        <p:spPr>
          <a:xfrm>
            <a:off x="6247765" y="154305"/>
            <a:ext cx="2539365" cy="5471795"/>
          </a:xfrm>
          <a:prstGeom prst="rect">
            <a:avLst/>
          </a:prstGeom>
        </p:spPr>
      </p:pic>
      <p:pic>
        <p:nvPicPr>
          <p:cNvPr id="4" name="图片 3" descr="9fdb2a6f039ee20390a60e645d82708c"/>
          <p:cNvPicPr>
            <a:picLocks noChangeAspect="1"/>
          </p:cNvPicPr>
          <p:nvPr/>
        </p:nvPicPr>
        <p:blipFill>
          <a:blip r:embed="rId2"/>
          <a:srcRect l="1255" t="1613" r="3596" b="12"/>
          <a:stretch>
            <a:fillRect/>
          </a:stretch>
        </p:blipFill>
        <p:spPr>
          <a:xfrm>
            <a:off x="9471660" y="139065"/>
            <a:ext cx="2552065" cy="5487035"/>
          </a:xfrm>
          <a:prstGeom prst="rect">
            <a:avLst/>
          </a:prstGeom>
        </p:spPr>
      </p:pic>
      <p:pic>
        <p:nvPicPr>
          <p:cNvPr id="6" name="图片 5" descr="da1bd57183bf81659ec44163f86772c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5736590"/>
            <a:ext cx="11944350" cy="904875"/>
          </a:xfrm>
          <a:prstGeom prst="rect">
            <a:avLst/>
          </a:prstGeom>
        </p:spPr>
      </p:pic>
      <p:pic>
        <p:nvPicPr>
          <p:cNvPr id="7" name="图片 6" descr="536cb04d94c29991207a8d4966a1d15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05" y="1445895"/>
            <a:ext cx="4800600" cy="1276350"/>
          </a:xfrm>
          <a:prstGeom prst="rect">
            <a:avLst/>
          </a:prstGeom>
        </p:spPr>
      </p:pic>
      <p:pic>
        <p:nvPicPr>
          <p:cNvPr id="9" name="图片 8" descr="733775b8c4108e347c0fb5ff9b31157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105" y="3217545"/>
            <a:ext cx="4781550" cy="1343025"/>
          </a:xfrm>
          <a:prstGeom prst="rect">
            <a:avLst/>
          </a:prstGeom>
        </p:spPr>
      </p:pic>
      <p:pic>
        <p:nvPicPr>
          <p:cNvPr id="10" name="图片 9" descr="91154789e324bf4ca30a91989d90dc8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" y="4671060"/>
            <a:ext cx="5715635" cy="955040"/>
          </a:xfrm>
          <a:prstGeom prst="rect">
            <a:avLst/>
          </a:prstGeom>
        </p:spPr>
      </p:pic>
      <p:sp>
        <p:nvSpPr>
          <p:cNvPr id="11" name="下箭头 10"/>
          <p:cNvSpPr/>
          <p:nvPr/>
        </p:nvSpPr>
        <p:spPr>
          <a:xfrm>
            <a:off x="2478405" y="2756535"/>
            <a:ext cx="556895" cy="417195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下箭头 12"/>
          <p:cNvSpPr/>
          <p:nvPr/>
        </p:nvSpPr>
        <p:spPr>
          <a:xfrm rot="16200000">
            <a:off x="8858885" y="2564765"/>
            <a:ext cx="581025" cy="501015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332107" y="37802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微信登录页面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0" name="Rectangle 19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Freeform: Shap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下箭头 12"/>
          <p:cNvSpPr/>
          <p:nvPr/>
        </p:nvSpPr>
        <p:spPr>
          <a:xfrm rot="16200000">
            <a:off x="5435889" y="3178492"/>
            <a:ext cx="581025" cy="501015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838200" y="314749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手机验证码登录注册页面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 descr="图形用户界面, 文本, 应用程序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670" y="1299389"/>
            <a:ext cx="2600147" cy="5097007"/>
          </a:xfrm>
          <a:prstGeom prst="rect">
            <a:avLst/>
          </a:prstGeom>
        </p:spPr>
      </p:pic>
      <p:pic>
        <p:nvPicPr>
          <p:cNvPr id="12" name="图片 11" descr="图形用户界面, 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382" y="1303273"/>
            <a:ext cx="2350672" cy="50931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/>
          <p:cNvGrpSpPr>
            <a:grpSpLocks noGrp="1" noRot="1" noChangeAspect="1" noMove="1" noResize="1" noUngrp="1"/>
          </p:cNvGrpSpPr>
          <p:nvPr/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8" name="Rectangle 12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内容占位符 4" descr="图形用户界面, 应用程序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0" b="-1"/>
          <a:stretch>
            <a:fillRect/>
          </a:stretch>
        </p:blipFill>
        <p:spPr>
          <a:xfrm>
            <a:off x="977265" y="1252220"/>
            <a:ext cx="10237470" cy="5395595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332107" y="37802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商家页面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0" name="Rectangle 19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Freeform: Shap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内容占位符 4" descr="图形用户界面, 应用程序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0" b="-1"/>
          <a:stretch>
            <a:fillRect/>
          </a:stretch>
        </p:blipFill>
        <p:spPr>
          <a:xfrm>
            <a:off x="972820" y="1156970"/>
            <a:ext cx="10245652" cy="54000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332107" y="37802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管理员页面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0" name="Rectangle 19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Freeform: Shap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4" descr="图形用户界面, 应用程序&#10;&#10;AI 生成的内容可能不正确。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27" y="1301326"/>
            <a:ext cx="10485436" cy="5400000"/>
          </a:xfrm>
          <a:prstGeom prst="rect">
            <a:avLst/>
          </a:prstGeom>
        </p:spPr>
      </p:pic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332107" y="37802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管理员商家管理页面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5_1"/>
  <p:tag name="KSO_WM_UNIT_ID" val="diagram20231068_4*m_h_a*1_5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1068_4*m_h_i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1068_4*m_h_i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gradient&quot;:[{&quot;brightness&quot;:0.4000000059604645,&quot;colorType&quot;:1,&quot;foreColorIndex&quot;:6,&quot;pos&quot;:0.1599999964237213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1068_4*m_h_i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1"/>
  <p:tag name="KSO_WM_UNIT_ID" val="diagram20231068_4*m_h_i*1_4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gradient&quot;:[{&quot;brightness&quot;:0.4000000059604645,&quot;colorType&quot;:1,&quot;foreColorIndex&quot;:6,&quot;pos&quot;:0.1599999964237213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5_1"/>
  <p:tag name="KSO_WM_UNIT_ID" val="diagram20231068_4*m_h_i*1_5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gradient&quot;:[{&quot;brightness&quot;:0.4000000059604645,&quot;colorType&quot;:1,&quot;foreColorIndex&quot;:5,&quot;pos&quot;:0.159999996423721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6_1"/>
  <p:tag name="KSO_WM_UNIT_ID" val="diagram20231068_4*m_h_i*1_6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FILL_TYPE" val="3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gradient&quot;:[{&quot;brightness&quot;:0.4000000059604645,&quot;colorType&quot;:1,&quot;foreColorIndex&quot;:6,&quot;pos&quot;:0.1599999964237213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31068_4*m_h_a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1068_4*m_h_f*1_1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1068_4*m_h_i*1_1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1068_4*m_h_i*1_2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6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1068_4*m_h_i*1_3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231068_4*m_h_a*1_4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1068_4*m_h_f*1_4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31068_4*m_h_i*1_4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6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2"/>
  <p:tag name="KSO_WM_UNIT_ID" val="diagram20231068_4*m_h_i*1_5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5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DIAGRAM_VERSION" val="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6_2"/>
  <p:tag name="KSO_WM_UNIT_ID" val="diagram20231068_4*m_h_i*1_6_2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LINE_FORE_SCHEMECOLOR_INDEX" val="6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600000023841858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31068_4*m_h_a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1068_4*m_h_f*1_3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添加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5_1"/>
  <p:tag name="KSO_WM_UNIT_ID" val="diagram20231068_4*m_h_f*1_5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31068_4*m_h_a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1068_4*m_h_f*1_2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DIAGRAM_VERSION" val="3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6_1"/>
  <p:tag name="KSO_WM_UNIT_ID" val="diagram20231068_4*m_h_a*1_6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DIAGRAM_VERSION" val="3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6_1"/>
  <p:tag name="KSO_WM_UNIT_ID" val="diagram20231068_4*m_h_f*1_6_1"/>
  <p:tag name="KSO_WM_TEMPLATE_CATEGORY" val="diagram"/>
  <p:tag name="KSO_WM_TEMPLATE_INDEX" val="20231068"/>
  <p:tag name="KSO_WM_UNIT_LAYERLEVEL" val="1_1_1"/>
  <p:tag name="KSO_WM_TAG_VERSION" val="3.0"/>
  <p:tag name="KSO_WM_BEAUTIFY_FLAG" val="#wm#"/>
  <p:tag name="KSO_WM_UNIT_PRESET_TEXT" val="单击此处输入你的正文，文字是您思想的提炼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48.8999938964844,&quot;left&quot;:49.29998779296875,&quot;top&quot;:96.70000305175782,&quot;width&quot;:826.400012207031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RESOURCE_RECORD_KEY" val="{&quot;70&quot;:[3314163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2987</Words>
  <Application>WPS 演示</Application>
  <PresentationFormat>宽屏</PresentationFormat>
  <Paragraphs>531</Paragraphs>
  <Slides>25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Arial</vt:lpstr>
      <vt:lpstr>Arial</vt:lpstr>
      <vt:lpstr>Calibri</vt:lpstr>
      <vt:lpstr>Arial Unicode MS</vt:lpstr>
      <vt:lpstr>等线 Light</vt:lpstr>
      <vt:lpstr>Calibri Light</vt:lpstr>
      <vt:lpstr>等线</vt:lpstr>
      <vt:lpstr>Calibri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App页面(预期)</vt:lpstr>
      <vt:lpstr>App页面(实际)</vt:lpstr>
      <vt:lpstr>App页面(实际)</vt:lpstr>
      <vt:lpstr> 心动模式(预期)</vt:lpstr>
      <vt:lpstr>微信登录页面</vt:lpstr>
      <vt:lpstr>手机验证码登录注册页面</vt:lpstr>
      <vt:lpstr> 商家页面</vt:lpstr>
      <vt:lpstr> 管理员页面</vt:lpstr>
      <vt:lpstr> 管理员商家管理页面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13703</cp:lastModifiedBy>
  <cp:revision>9</cp:revision>
  <dcterms:created xsi:type="dcterms:W3CDTF">2025-12-03T12:28:00Z</dcterms:created>
  <dcterms:modified xsi:type="dcterms:W3CDTF">2026-05-16T07:06:45Z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5A8D2CEA4F1F434080F8EB450F30447E_13</vt:lpwstr>
  </property>
</Properties>
</file>